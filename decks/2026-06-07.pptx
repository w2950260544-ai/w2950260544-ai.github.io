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数字消费规模（万亿元）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16.5</c:v>
                </c:pt>
                <c:pt idx="1">
                  <c:v>20.1</c:v>
                </c:pt>
                <c:pt idx="2">
                  <c:v>23.8</c:v>
                </c:pt>
                <c:pt idx="3">
                  <c:v>25.3</c:v>
                </c:pt>
                <c:pt idx="4">
                  <c:v>25.3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6DD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2194560"/>
            <a:ext cx="4572000" cy="4572000"/>
          </a:xfrm>
          <a:prstGeom prst="roundRect">
            <a:avLst>
              <a:gd name="adj" fmla="val 12000"/>
            </a:avLst>
          </a:prstGeom>
          <a:solidFill>
            <a:srgbClr val="FBE4DB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280160"/>
            <a:ext cx="2926080" cy="2926080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3291840"/>
            <a:ext cx="2194560" cy="2194560"/>
          </a:xfrm>
          <a:prstGeom prst="ellipse">
            <a:avLst/>
          </a:prstGeom>
          <a:solidFill>
            <a:srgbClr val="FCE7EE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228600"/>
            <a:ext cx="640080" cy="640080"/>
          </a:xfrm>
          <a:prstGeom prst="ellipse">
            <a:avLst/>
          </a:prstGeom>
          <a:solidFill>
            <a:srgbClr val="F6C66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00" cy="6400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A2E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数字消费市场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研究日报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7772400" cy="475488"/>
          </a:xfrm>
          <a:prstGeom prst="rect">
            <a:avLst>
              <a:gd name="adj" fmla="val 15385"/>
            </a:avLst>
          </a:prstGeom>
          <a:solidFill>
            <a:srgbClr val="FCEFD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98064"/>
            <a:ext cx="45720" cy="47548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980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A23B"/>
                </a:solidFill>
              </a:rPr>
              <a:t>今日专题：数字消费提质升级：Z世代品质化与即时零售价值深耕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1828800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 · 06 · 07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3419856"/>
            <a:ext cx="6492240" cy="347472"/>
          </a:xfrm>
          <a:prstGeom prst="rect">
            <a:avLst>
              <a:gd name="adj" fmla="val 21053"/>
            </a:avLst>
          </a:prstGeom>
          <a:solidFill>
            <a:srgbClr val="FF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4198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A5F"/>
                </a:solidFill>
              </a:rPr>
              <a:t>数据来自权威公开渠道，并标注来源与日期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72"/>
                </a:solidFill>
              </a:rPr>
              <a:t>Andy · 应用统计学研究生 · 数字消费方向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📰  近期数字消费要闻（已核实来源与日期）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2026年06月07日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50392"/>
            <a:ext cx="54864" cy="7406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32688"/>
            <a:ext cx="868680" cy="256032"/>
          </a:xfrm>
          <a:prstGeom prst="rect">
            <a:avLst>
              <a:gd name="adj" fmla="val 17857"/>
            </a:avLst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32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914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大象研究院发布《2026年即时零售行业研究报告》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932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07A5F"/>
                </a:solidFill>
              </a:rPr>
              <a:t>大象投顾 / 大象IPO · 2026-06-04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44752" y="1261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聚焦AI智能调度、无人配送、前置仓三大技术迭代，剖析市场竞争格局与产业价值重塑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55064"/>
            <a:ext cx="54864" cy="740664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868680" cy="256032"/>
          </a:xfrm>
          <a:prstGeom prst="rect">
            <a:avLst>
              <a:gd name="adj" fmla="val 17857"/>
            </a:avLst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消费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44752" y="17190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埃森哲报告：Z世代数字消费注重真实体验，近半愿为智能设备付溢价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1737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A23B"/>
                </a:solidFill>
              </a:rPr>
              <a:t>中工网 / 河北会展网（引埃森哲报告） · 2026-06-05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44752" y="2066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《确定性：Z世代的新坐标》显示，年轻群体带动具身智能、智能穿戴、即时零售、数字文旅扩容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59736"/>
            <a:ext cx="54864" cy="740664"/>
          </a:xfrm>
          <a:prstGeom prst="rect">
            <a:avLst/>
          </a:prstGeom>
          <a:solidFill>
            <a:srgbClr val="E76F8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42032"/>
            <a:ext cx="868680" cy="256032"/>
          </a:xfrm>
          <a:prstGeom prst="rect">
            <a:avLst>
              <a:gd name="adj" fmla="val 17857"/>
            </a:avLst>
          </a:prstGeom>
          <a:solidFill>
            <a:srgbClr val="E76F8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42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政策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44752" y="2523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山西10部门联合推出36项举措，推动服务消费高质量发展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2542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76F8E"/>
                </a:solidFill>
              </a:rPr>
              <a:t>中华人民共和国文化和旅游部 · 2026-06-02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44752" y="2871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聚焦文旅、体育、养老托育、数字绿色等领域，构建“晋享服务”高质量服务消费体系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255264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740664"/>
          </a:xfrm>
          <a:prstGeom prst="rect">
            <a:avLst/>
          </a:prstGeom>
          <a:solidFill>
            <a:srgbClr val="9B8BD4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346704"/>
            <a:ext cx="868680" cy="256032"/>
          </a:xfrm>
          <a:prstGeom prst="rect">
            <a:avLst>
              <a:gd name="adj" fmla="val 17857"/>
            </a:avLst>
          </a:prstGeom>
          <a:solidFill>
            <a:srgbClr val="9B8BD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467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44752" y="3328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即时零售迈向价值深耕：全年龄段覆盖，场景向“商品+服务”延伸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49440" y="3346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B8BD4"/>
                </a:solidFill>
              </a:rPr>
              <a:t>百胜软件 · 2026-04-20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444752" y="3675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美团闪购40岁+购酒用户同比增46.9%，即时零售从规模狂欢转向价值深耕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69080"/>
            <a:ext cx="54864" cy="7406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151376"/>
            <a:ext cx="868680" cy="256032"/>
          </a:xfrm>
          <a:prstGeom prst="rect">
            <a:avLst>
              <a:gd name="adj" fmla="val 17857"/>
            </a:avLst>
          </a:pr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513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政策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44752" y="41330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服务消费撑起居民消费“半壁江山”，数字技术拓宽边界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49440" y="41513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07A5F"/>
                </a:solidFill>
              </a:rPr>
              <a:t>中工网（引商务部发布会） · 2026-05-30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44752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商务部发言人何亚东：从无人机送外卖到城市空中的士，服务消费边界被数字技术拓宽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📊  核心市场数据（权威来源 · 注明发布日期）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2026年06月07日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BE4DB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097280"/>
            <a:ext cx="2148840" cy="201168"/>
          </a:xfrm>
          <a:prstGeom prst="rect">
            <a:avLst/>
          </a:prstGeom>
          <a:solidFill>
            <a:srgbClr val="FBE4D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7A5F"/>
                </a:solidFill>
              </a:rPr>
              <a:t>25.3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万亿元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" y="2304288"/>
            <a:ext cx="1874520" cy="9144"/>
          </a:xfrm>
          <a:prstGeom prst="rect">
            <a:avLst/>
          </a:prstGeom>
          <a:solidFill>
            <a:srgbClr val="FB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2025数字消费规模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B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A5F"/>
                </a:solidFill>
              </a:rPr>
              <a:t>中国政府网·2026.3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CEFD6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1097280"/>
            <a:ext cx="2148840" cy="201168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A23B"/>
                </a:solidFill>
              </a:rPr>
              <a:t>1.5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578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万亿元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4328" y="2304288"/>
            <a:ext cx="1874520" cy="9144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21" name="Text 19"/>
          <p:cNvSpPr/>
          <p:nvPr/>
        </p:nvSpPr>
        <p:spPr>
          <a:xfrm>
            <a:off x="2578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即时零售市场规模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CEFD6"/>
          </a:solidFill>
          <a:ln/>
        </p:spPr>
      </p:sp>
      <p:sp>
        <p:nvSpPr>
          <p:cNvPr id="23" name="Text 21"/>
          <p:cNvSpPr/>
          <p:nvPr/>
        </p:nvSpPr>
        <p:spPr>
          <a:xfrm>
            <a:off x="2670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A23B"/>
                </a:solidFill>
              </a:rPr>
              <a:t>多方·2026.4-5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CE7EE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1097280"/>
            <a:ext cx="2148840" cy="201168"/>
          </a:xfrm>
          <a:prstGeom prst="rect">
            <a:avLst/>
          </a:prstGeom>
          <a:solidFill>
            <a:srgbClr val="FCE7EE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8E"/>
                </a:solidFill>
              </a:rPr>
              <a:t>9.58亿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864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10328" y="2304288"/>
            <a:ext cx="1874520" cy="9144"/>
          </a:xfrm>
          <a:prstGeom prst="rect">
            <a:avLst/>
          </a:prstGeom>
          <a:solidFill>
            <a:srgbClr val="FCE7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数字消费用户规模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CE7EE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8E"/>
                </a:solidFill>
              </a:rPr>
              <a:t>CNNIC·2025.12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59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59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EFE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9168" y="1097280"/>
            <a:ext cx="2148840" cy="201168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BD4"/>
                </a:solidFill>
              </a:rPr>
              <a:t>46.5%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150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消费占比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96328" y="2304288"/>
            <a:ext cx="1874520" cy="9144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占居民消费支出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EFEBFA"/>
          </a:solidFill>
          <a:ln/>
        </p:spPr>
      </p:sp>
      <p:sp>
        <p:nvSpPr>
          <p:cNvPr id="41" name="Text 39"/>
          <p:cNvSpPr/>
          <p:nvPr/>
        </p:nvSpPr>
        <p:spPr>
          <a:xfrm>
            <a:off x="7242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8BD4"/>
                </a:solidFill>
              </a:rPr>
              <a:t>CNNIC·2025.12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274320" y="3337560"/>
          <a:ext cx="5120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577840" y="3337560"/>
            <a:ext cx="3364992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6D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76072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</a:rPr>
              <a:t>📌 数据说明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760720" y="37307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左图为历年规模趋势（万亿元）。所有数据来自官方公开渠道，已注明发布时间，非今日新发布。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图中2025为全年值，往年为公开口径整理。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🏛️  政策与行业背景（权威来源核实）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2026年06月07日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50392"/>
            <a:ext cx="45720" cy="120700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2025年全年居民数字消费规模达25.3万亿元，同比增长8.7%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数字服务消费增长12.5%成主引擎，线下数字消费增长13.8%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FBE4D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</a:rPr>
              <a:t>中国政府网 · 2026-03-29 发布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3600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850392"/>
            <a:ext cx="45720" cy="1207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2025上半年数字消费总额9.37万亿元，占居民消费支出46.5%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数字消费用户规模突破9.58亿人，占网民总数85.3%，成为消费主流形态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FCEFD6"/>
          </a:solidFill>
          <a:ln/>
        </p:spPr>
      </p:sp>
      <p:sp>
        <p:nvSpPr>
          <p:cNvPr id="17" name="Text 15"/>
          <p:cNvSpPr/>
          <p:nvPr/>
        </p:nvSpPr>
        <p:spPr>
          <a:xfrm>
            <a:off x="485546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A23B"/>
                </a:solidFill>
              </a:rPr>
              <a:t>CNNIC 数字消费发展报告2025 · 2025-12 发布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203704"/>
            <a:ext cx="45720" cy="1207008"/>
          </a:xfrm>
          <a:prstGeom prst="rect">
            <a:avLst/>
          </a:prstGeom>
          <a:solidFill>
            <a:srgbClr val="9B8BD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即时零售市场2026年规模突破1.5万亿元，增速超50%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社区团购活跃用户超2.8亿，三四线及乡镇渗透率达68%，传统电商增速降至3.6%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EFE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8BD4"/>
                </a:solidFill>
              </a:rPr>
              <a:t>安迅科技 / 平说财经（多方报道） · 2026年4-5月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3600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203704"/>
            <a:ext cx="45720" cy="1207008"/>
          </a:xfrm>
          <a:prstGeom prst="rect">
            <a:avLst/>
          </a:prstGeom>
          <a:solidFill>
            <a:srgbClr val="E76F8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《数字消费提升行动通知》鼓励前置仓、无人配送等履约体系建设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即时零售被列为城市数字消费新地标的核心场景，预计突破万亿元成增长新动能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FCE7EE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8E"/>
                </a:solidFill>
              </a:rPr>
              <a:t>中国食品报（引政策文件） · 2026-03-13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557016"/>
            <a:ext cx="45720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商务部等8部门《大力发展数字消费指导意见》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明确数字产品、服务、内容、渠道四大范畴，部署供给、渠道、主体、支撑四方面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F0FDFA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商务部 / 中国政府网 · 2025-09-24 发布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3600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557016"/>
            <a:ext cx="45720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2026政府工作报告将智能化消费列为七大高频词之一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政策明确推动人工智能+消费深度融合，培育壮大新型消费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485546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全国两会政府工作报告 · 2026-03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🔬  研究视角：数字消费 × 应用统计学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2026年06月07日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FBE4DB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124712"/>
            <a:ext cx="4297680" cy="201168"/>
          </a:xfrm>
          <a:prstGeom prst="rect">
            <a:avLst/>
          </a:prstGeom>
          <a:solidFill>
            <a:srgbClr val="FBE4D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📐  会展促消费的政策评估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上海数字生活周等促消费活动，可用双重差分(DID)评估其对区域消费的净效应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FB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🎓 适用方法：DID · 事件研究法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FCEFD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36008" y="1124712"/>
            <a:ext cx="4297680" cy="201168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</a:rPr>
              <a:t>🗺️  数字消费的空间分异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沪穗会展联动反映区域差异，可用空间计量模型识别消费溢出与集聚效应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FCEFD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A23B"/>
                </a:solidFill>
              </a:rPr>
              <a:t>🎓 适用方法：空间面板 · 溢出效应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FCE7E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" y="2999232"/>
            <a:ext cx="4297680" cy="201168"/>
          </a:xfrm>
          <a:prstGeom prst="rect">
            <a:avLst/>
          </a:prstGeom>
          <a:solidFill>
            <a:srgbClr val="FCE7E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8E"/>
                </a:solidFill>
              </a:rPr>
              <a:t>📊  即时零售的结构建模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1.5万亿规模与50%增速下，可建模分析品类渗透与城乡异质性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FCE7E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8E"/>
                </a:solidFill>
              </a:rPr>
              <a:t>🎓 适用方法：分位数回归 · 异质性分析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3600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EFE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636008" y="2999232"/>
            <a:ext cx="4297680" cy="201168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8BD4"/>
                </a:solidFill>
              </a:rPr>
              <a:t>🤖  AI+消费的因果识别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智能化消费政策落地，可识别AI推荐对消费决策链的因果效应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EFEBF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8BD4"/>
                </a:solidFill>
              </a:rPr>
              <a:t>🎓 适用方法：工具变量 · 中介效应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486400" cy="548640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📚  数据来源与诚信声明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2026年06月07日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859536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6D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📖  本期全部信息来源（已逐条核实）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大象投顾 / 大象IPO（2026-06-04）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中工网 / 河北会展网（引埃森哲报告）（2026-06-05）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中华人民共和国文化和旅游部（2026-06-02）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百胜软件（2026-04-20）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中工网（引商务部发布会）（2026-05-30）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6.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中国政府网（2026-03-29 发布）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7.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CNNIC 数字消费发展报告2025（2025-12 发布）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8.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安迅科技 / 平说财经（多方报道）（2026年4-5月）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9.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中国食品报（引政策文件）（2026-03-13）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10.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商务部 / 中国政府网（2025-09-24 发布）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11.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全国两会政府工作报告（2026-03）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8595360" cy="1234440"/>
          </a:xfrm>
          <a:prstGeom prst="rect">
            <a:avLst>
              <a:gd name="adj" fmla="val 8889"/>
            </a:avLst>
          </a:prstGeom>
          <a:solidFill>
            <a:srgbClr val="FBE4D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200400"/>
            <a:ext cx="54864" cy="12344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</a:rPr>
              <a:t>📎  关于本报告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本报告数据与事件均来自上述权威公开渠道，并标注来源与发布日期。「要闻」为近期(6月1-3日)真实事件，「核心数据」与「政策背景」为权威机构已发布数据，均按实际时间标注，供学术研究参考。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8595360" cy="365760"/>
          </a:xfrm>
          <a:prstGeom prst="rect">
            <a:avLst>
              <a:gd name="adj" fmla="val 20000"/>
            </a:avLst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数字消费研究日报  ·  2026年06月07日  ·  Andy（应用统计学 · 数字消费方向）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数字消费研究日报 · 数字消费提质升级：Z世代品质化与即时零售价值深耕</dc:title>
  <dc:subject>PptxGenJS Presentation</dc:subject>
  <dc:creator>Andy</dc:creator>
  <cp:lastModifiedBy>Andy</cp:lastModifiedBy>
  <cp:revision>1</cp:revision>
  <dcterms:created xsi:type="dcterms:W3CDTF">2026-06-07T12:36:43Z</dcterms:created>
  <dcterms:modified xsi:type="dcterms:W3CDTF">2026-06-07T12:36:43Z</dcterms:modified>
</cp:coreProperties>
</file>