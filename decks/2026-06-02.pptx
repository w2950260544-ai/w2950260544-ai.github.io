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网络零售总额（万亿元）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数字消费规模（万亿元）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13.2</c:v>
                </c:pt>
                <c:pt idx="1">
                  <c:v>16.5</c:v>
                </c:pt>
                <c:pt idx="2">
                  <c:v>20.1</c:v>
                </c:pt>
                <c:pt idx="3">
                  <c:v>23.8</c:v>
                </c:pt>
                <c:pt idx="4">
                  <c:v>25.3</c:v>
                </c:pt>
                <c:pt idx="5">
                  <c:v>25.3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F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同比增速（%）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同比增速（%）</c:v>
                </c:pt>
              </c:strCache>
            </c:strRef>
          </c:tx>
          <c:spPr>
            <a:solidFill>
              <a:srgbClr val="D97706"/>
            </a:solidFill>
            <a:ln w="3175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9770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11.3</c:v>
                </c:pt>
                <c:pt idx="1">
                  <c:v>25</c:v>
                </c:pt>
                <c:pt idx="2">
                  <c:v>21.8</c:v>
                </c:pt>
                <c:pt idx="3">
                  <c:v>18.4</c:v>
                </c:pt>
                <c:pt idx="4">
                  <c:v>6.3</c:v>
                </c:pt>
                <c:pt idx="5">
                  <c:v>8.7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D9770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DE68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EF3C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网购用户年龄分布（2024）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年龄分布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FB7185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bubble3D val="0"/>
            <c:spPr>
              <a:solidFill>
                <a:srgbClr val="34D39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Z世代 18–25岁</c:v>
                </c:pt>
                <c:pt idx="1">
                  <c:v>青年 26–35岁</c:v>
                </c:pt>
                <c:pt idx="2">
                  <c:v>中青年 36–45岁</c:v>
                </c:pt>
                <c:pt idx="3">
                  <c:v>中年 46–60岁</c:v>
                </c:pt>
                <c:pt idx="4">
                  <c:v>银发 60+岁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27</c:v>
                </c:pt>
                <c:pt idx="1">
                  <c:v>33</c:v>
                </c:pt>
                <c:pt idx="2">
                  <c:v>22</c:v>
                </c:pt>
                <c:pt idx="3">
                  <c:v>13</c:v>
                </c:pt>
                <c:pt idx="4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数字消费总规模（万亿元）</c:v>
                </c:pt>
              </c:strCache>
            </c:strRef>
          </c:tx>
          <c:spPr>
            <a:solidFill>
              <a:srgbClr val="059669"/>
            </a:solidFill>
            <a:ln w="3175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2026E</c:v>
                  </c:pt>
                  <c:pt idx="5">
                    <c:v>2027E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20.1</c:v>
                </c:pt>
                <c:pt idx="1">
                  <c:v>23.8</c:v>
                </c:pt>
                <c:pt idx="2">
                  <c:v>25.3</c:v>
                </c:pt>
                <c:pt idx="3">
                  <c:v>25.3</c:v>
                </c:pt>
                <c:pt idx="4">
                  <c:v>28.5</c:v>
                </c:pt>
                <c:pt idx="5">
                  <c:v>32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即时零售规模（万亿元）</c:v>
                </c:pt>
              </c:strCache>
            </c:strRef>
          </c:tx>
          <c:spPr>
            <a:solidFill>
              <a:srgbClr val="D97706"/>
            </a:solidFill>
            <a:ln w="3175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2026E</c:v>
                  </c:pt>
                  <c:pt idx="5">
                    <c:v>2027E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0.45</c:v>
                </c:pt>
                <c:pt idx="1">
                  <c:v>0.7</c:v>
                </c:pt>
                <c:pt idx="2">
                  <c:v>1</c:v>
                </c:pt>
                <c:pt idx="3">
                  <c:v>1.5</c:v>
                </c:pt>
                <c:pt idx="4">
                  <c:v>2.3</c:v>
                </c:pt>
                <c:pt idx="5">
                  <c:v>3.5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F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6FB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828800"/>
            <a:ext cx="5943600" cy="594360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D1FAE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48640" y="3657600"/>
            <a:ext cx="1828800" cy="182880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" y="182880"/>
            <a:ext cx="822960" cy="822960"/>
          </a:xfrm>
          <a:prstGeom prst="ellipse">
            <a:avLst/>
          </a:prstGeom>
          <a:solidFill>
            <a:srgbClr val="FECDD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数字消费市场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研究日报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Consumption Research Report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1828800" cy="384048"/>
          </a:xfrm>
          <a:prstGeom prst="rect">
            <a:avLst>
              <a:gd name="adj" fmla="val 28571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74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06 · 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041648"/>
            <a:ext cx="1325880" cy="320040"/>
          </a:xfrm>
          <a:prstGeom prst="rect">
            <a:avLst>
              <a:gd name="adj" fmla="val 22857"/>
            </a:avLst>
          </a:prstGeom>
          <a:solidFill>
            <a:srgbClr val="D1FAE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0416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市场数据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4041648"/>
            <a:ext cx="1325880" cy="320040"/>
          </a:xfrm>
          <a:prstGeom prst="rect">
            <a:avLst>
              <a:gd name="adj" fmla="val 22857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1920240" y="40416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消费行为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4041648"/>
            <a:ext cx="1325880" cy="320040"/>
          </a:xfrm>
          <a:prstGeom prst="rect">
            <a:avLst>
              <a:gd name="adj" fmla="val 22857"/>
            </a:avLst>
          </a:prstGeom>
          <a:solidFill>
            <a:srgbClr val="F5F3FF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40416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统计视角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4041648"/>
            <a:ext cx="1325880" cy="320040"/>
          </a:xfrm>
          <a:prstGeom prst="rect">
            <a:avLst>
              <a:gd name="adj" fmla="val 22857"/>
            </a:avLst>
          </a:prstGeom>
          <a:solidFill>
            <a:srgbClr val="FFF1F2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40416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</a:rPr>
              <a:t>趋势预测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Andy · 应用统计学研究生 · 数字消费方向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📰  今日数字消费资讯速报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2026年06月02日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41248"/>
            <a:ext cx="4315968" cy="1261872"/>
          </a:xfrm>
          <a:prstGeom prst="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50392"/>
            <a:ext cx="45720" cy="12435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3995928" y="932688"/>
            <a:ext cx="438912" cy="201168"/>
          </a:xfrm>
          <a:prstGeom prst="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3995928" y="9326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长江数字消费学院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9326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超1亿人首次通过AI助手完成购物，「一句话下单」改写消费决策链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57276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阿里千问【一句话下单】使用量近2亿次，豆包AI单日互动突破19亿次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" y="2231136"/>
            <a:ext cx="4315968" cy="1261872"/>
          </a:xfrm>
          <a:prstGeom prst="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2240280"/>
            <a:ext cx="45720" cy="1243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3995928" y="2322576"/>
            <a:ext cx="438912" cy="201168"/>
          </a:xfrm>
          <a:prstGeom prst="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3995928" y="23225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安迅科技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232257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即时零售规模突破1.5万亿元，增速50%碾压传统电商的3.6%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96265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社区团购活跃用户超2.8亿，三四线及乡镇渗透率达68%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" y="3621024"/>
            <a:ext cx="4315968" cy="1261872"/>
          </a:xfrm>
          <a:prstGeom prst="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3630168"/>
            <a:ext cx="45720" cy="12435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3995928" y="3712464"/>
            <a:ext cx="438912" cy="201168"/>
          </a:xfrm>
          <a:prstGeom prst="rect">
            <a:avLst>
              <a:gd name="adj" fmla="val 18182"/>
            </a:avLst>
          </a:prstGeom>
          <a:solidFill>
            <a:srgbClr val="F5F3FF"/>
          </a:solidFill>
          <a:ln/>
        </p:spPr>
      </p:sp>
      <p:sp>
        <p:nvSpPr>
          <p:cNvPr id="21" name="Text 19"/>
          <p:cNvSpPr/>
          <p:nvPr/>
        </p:nvSpPr>
        <p:spPr>
          <a:xfrm>
            <a:off x="3995928" y="37124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界面新闻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371246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上海发布《2026年扩消费行动方案》，建设「AI+消费」集聚区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35254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围绕AI成果创新、合作模式创新、应用场景创新三大方向落地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841248"/>
            <a:ext cx="4315968" cy="1261872"/>
          </a:xfrm>
          <a:prstGeom prst="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850392"/>
            <a:ext cx="45720" cy="12435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8503920" y="932688"/>
            <a:ext cx="438912" cy="201168"/>
          </a:xfrm>
          <a:prstGeom prst="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9326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中国信通院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73752" y="9326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工信部启动「数字消费·一优一新」双推行动，培育优质数字消费供给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73752" y="157276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【数字消费优品汇】与【数字消费新品集】正式启动，激发消费新潜能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231136"/>
            <a:ext cx="4315968" cy="1261872"/>
          </a:xfrm>
          <a:prstGeom prst="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240280"/>
            <a:ext cx="45720" cy="1243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Shape 30"/>
          <p:cNvSpPr/>
          <p:nvPr/>
        </p:nvSpPr>
        <p:spPr>
          <a:xfrm>
            <a:off x="8503920" y="2322576"/>
            <a:ext cx="438912" cy="201168"/>
          </a:xfrm>
          <a:prstGeom prst="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23225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中国政府网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73752" y="232257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2025年全年居民数字消费规模达25.3万亿元，同比增长8.7%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73752" y="296265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数字服务消费增长12.5%成主引擎，线下数字消费增长13.8%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621024"/>
            <a:ext cx="4315968" cy="1261872"/>
          </a:xfrm>
          <a:prstGeom prst="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630168"/>
            <a:ext cx="45720" cy="12435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Shape 36"/>
          <p:cNvSpPr/>
          <p:nvPr/>
        </p:nvSpPr>
        <p:spPr>
          <a:xfrm>
            <a:off x="8503920" y="3712464"/>
            <a:ext cx="438912" cy="201168"/>
          </a:xfrm>
          <a:prstGeom prst="rect">
            <a:avLst>
              <a:gd name="adj" fmla="val 18182"/>
            </a:avLst>
          </a:prstGeom>
          <a:solidFill>
            <a:srgbClr val="F5F3FF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37124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海关总署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73752" y="371246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跨境电商跨关区退货新政落地，2026年4月起全国推广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73752" y="435254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简化退货手续，跨境电商出口体系全面打通，利好中小卖家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📊  核心市场数据速览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2026年06月02日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D1FAE5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1097280"/>
            <a:ext cx="2148840" cy="20116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35331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59669"/>
                </a:solidFill>
              </a:rPr>
              <a:t>25.3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92608" y="20482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万亿元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" y="2340864"/>
            <a:ext cx="1600200" cy="914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2395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2025全年数字消费规模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2724912"/>
            <a:ext cx="1234440" cy="256032"/>
          </a:xfrm>
          <a:prstGeom prst="rect">
            <a:avLst>
              <a:gd name="adj" fmla="val 21429"/>
            </a:avLst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同比 +8.7%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87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87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EF3C7"/>
          </a:solidFill>
          <a:ln/>
        </p:spPr>
      </p:sp>
      <p:sp>
        <p:nvSpPr>
          <p:cNvPr id="17" name="Shape 15"/>
          <p:cNvSpPr/>
          <p:nvPr/>
        </p:nvSpPr>
        <p:spPr>
          <a:xfrm>
            <a:off x="2487168" y="1097280"/>
            <a:ext cx="214884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2578608" y="135331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</a:rPr>
              <a:t>1.5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2578608" y="20482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万亿元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61488" y="2340864"/>
            <a:ext cx="1600200" cy="9144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2578608" y="2395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即时零售市场规模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44368" y="2724912"/>
            <a:ext cx="1234440" cy="256032"/>
          </a:xfrm>
          <a:prstGeom prst="rect">
            <a:avLst>
              <a:gd name="adj" fmla="val 21429"/>
            </a:avLst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2944368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增速 +50%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FF1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FF1F2"/>
          </a:solidFill>
          <a:ln/>
        </p:spPr>
      </p:sp>
      <p:sp>
        <p:nvSpPr>
          <p:cNvPr id="26" name="Shape 24"/>
          <p:cNvSpPr/>
          <p:nvPr/>
        </p:nvSpPr>
        <p:spPr>
          <a:xfrm>
            <a:off x="4773168" y="1097280"/>
            <a:ext cx="2148840" cy="201168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135331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7185"/>
                </a:solidFill>
              </a:rPr>
              <a:t>9.58亿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4864608" y="20482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人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47488" y="2340864"/>
            <a:ext cx="1600200" cy="9144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2395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数字消费用户规模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30368" y="2724912"/>
            <a:ext cx="1234440" cy="256032"/>
          </a:xfrm>
          <a:prstGeom prst="rect">
            <a:avLst>
              <a:gd name="adj" fmla="val 21429"/>
            </a:avLst>
          </a:prstGeom>
          <a:solidFill>
            <a:srgbClr val="FFF1F2"/>
          </a:solidFill>
          <a:ln/>
        </p:spPr>
      </p:sp>
      <p:sp>
        <p:nvSpPr>
          <p:cNvPr id="32" name="Text 30"/>
          <p:cNvSpPr/>
          <p:nvPr/>
        </p:nvSpPr>
        <p:spPr>
          <a:xfrm>
            <a:off x="5230368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7185"/>
                </a:solidFill>
              </a:rPr>
              <a:t>占网民 85.3%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59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5F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59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5F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059168" y="1097280"/>
            <a:ext cx="2148840" cy="20116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6" name="Text 34"/>
          <p:cNvSpPr/>
          <p:nvPr/>
        </p:nvSpPr>
        <p:spPr>
          <a:xfrm>
            <a:off x="7150608" y="135331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</a:rPr>
              <a:t>46.5%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7150608" y="20482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消费占比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33488" y="2340864"/>
            <a:ext cx="1600200" cy="9144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9" name="Text 37"/>
          <p:cNvSpPr/>
          <p:nvPr/>
        </p:nvSpPr>
        <p:spPr>
          <a:xfrm>
            <a:off x="7150608" y="2395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占居民消费支出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516368" y="2724912"/>
            <a:ext cx="1234440" cy="256032"/>
          </a:xfrm>
          <a:prstGeom prst="rect">
            <a:avLst>
              <a:gd name="adj" fmla="val 21429"/>
            </a:avLst>
          </a:prstGeom>
          <a:solidFill>
            <a:srgbClr val="F5F3FF"/>
          </a:solidFill>
          <a:ln/>
        </p:spPr>
      </p:sp>
      <p:sp>
        <p:nvSpPr>
          <p:cNvPr id="41" name="Text 39"/>
          <p:cNvSpPr/>
          <p:nvPr/>
        </p:nvSpPr>
        <p:spPr>
          <a:xfrm>
            <a:off x="7516368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近半壁江山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01168" y="3310128"/>
            <a:ext cx="8741664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01168" y="3310128"/>
            <a:ext cx="45720" cy="1554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384048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📌  今日研究焦点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84048" y="373075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🤖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超1亿人首次通过AI助手完成购物，「一句话下单」改写消费决策链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84048" y="406908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⚡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即时零售规模突破1.5万亿元，增速50%碾压传统电商的3.6%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84048" y="44074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👴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上海发布《2026年扩消费行动方案》，建设「AI+消费」集聚区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📈  中国数字消费市场规模增长趋势（2019–2024）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2026年06月02日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82296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943600" y="822960"/>
          <a:ext cx="3017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🛒  四大核心数字消费场景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2026年06月02日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41248"/>
            <a:ext cx="2103120" cy="3977640"/>
          </a:xfrm>
          <a:prstGeom prst="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41248"/>
            <a:ext cx="2103120" cy="914400"/>
          </a:xfrm>
          <a:prstGeom prst="rect">
            <a:avLst>
              <a:gd name="adj" fmla="val 14000"/>
            </a:avLst>
          </a:prstGeom>
          <a:solidFill>
            <a:srgbClr val="D1FAE5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1481328"/>
            <a:ext cx="2103120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🛍️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59536" y="9144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直播电商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6.8万亿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49808" y="2377440"/>
            <a:ext cx="1005840" cy="256032"/>
          </a:xfrm>
          <a:prstGeom prst="rect">
            <a:avLst>
              <a:gd name="adj" fmla="val 21429"/>
            </a:avLst>
          </a:prstGeom>
          <a:solidFill>
            <a:srgbClr val="D1FAE5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377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↑ 35%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724912"/>
            <a:ext cx="1737360" cy="914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8163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头部主播带货占比42%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322783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AI虚拟主播渗透18%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363931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大促贡献28% GMV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95728" y="841248"/>
            <a:ext cx="2103120" cy="3977640"/>
          </a:xfrm>
          <a:prstGeom prst="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95728" y="841248"/>
            <a:ext cx="2103120" cy="914400"/>
          </a:xfrm>
          <a:prstGeom prst="rect">
            <a:avLst>
              <a:gd name="adj" fmla="val 14000"/>
            </a:avLst>
          </a:prstGeom>
          <a:solidFill>
            <a:srgbClr val="FEF3C7"/>
          </a:solidFill>
          <a:ln/>
        </p:spPr>
      </p:sp>
      <p:sp>
        <p:nvSpPr>
          <p:cNvPr id="20" name="Shape 18"/>
          <p:cNvSpPr/>
          <p:nvPr/>
        </p:nvSpPr>
        <p:spPr>
          <a:xfrm>
            <a:off x="2395728" y="1481328"/>
            <a:ext cx="2103120" cy="2743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2487168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054096" y="9144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即时零售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487168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1.1万亿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2944368" y="2377440"/>
            <a:ext cx="1005840" cy="256032"/>
          </a:xfrm>
          <a:prstGeom prst="rect">
            <a:avLst>
              <a:gd name="adj" fmla="val 21429"/>
            </a:avLst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2944368" y="2377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↑ 68%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78608" y="2724912"/>
            <a:ext cx="1737360" cy="9144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0" y="28163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30分钟达渗透率40%+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0" y="322783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三大平台竞争格局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60320" y="363931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夜间经济占比35%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90288" y="841248"/>
            <a:ext cx="2103120" cy="3977640"/>
          </a:xfrm>
          <a:prstGeom prst="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FDA4A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90288" y="841248"/>
            <a:ext cx="2103120" cy="914400"/>
          </a:xfrm>
          <a:prstGeom prst="rect">
            <a:avLst>
              <a:gd name="adj" fmla="val 14000"/>
            </a:avLst>
          </a:prstGeom>
          <a:solidFill>
            <a:srgbClr val="FFF1F2"/>
          </a:solidFill>
          <a:ln/>
        </p:spPr>
      </p:sp>
      <p:sp>
        <p:nvSpPr>
          <p:cNvPr id="32" name="Shape 30"/>
          <p:cNvSpPr/>
          <p:nvPr/>
        </p:nvSpPr>
        <p:spPr>
          <a:xfrm>
            <a:off x="4590288" y="1481328"/>
            <a:ext cx="2103120" cy="27432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33" name="Text 31"/>
          <p:cNvSpPr/>
          <p:nvPr/>
        </p:nvSpPr>
        <p:spPr>
          <a:xfrm>
            <a:off x="4681728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248656" y="9144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7185"/>
                </a:solidFill>
              </a:rPr>
              <a:t>跨境电商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681728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7185"/>
                </a:solidFill>
              </a:rPr>
              <a:t>2.38万亿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5138928" y="2377440"/>
            <a:ext cx="1005840" cy="256032"/>
          </a:xfrm>
          <a:prstGeom prst="rect">
            <a:avLst>
              <a:gd name="adj" fmla="val 21429"/>
            </a:avLst>
          </a:prstGeom>
          <a:solidFill>
            <a:srgbClr val="FFF1F2"/>
          </a:solidFill>
          <a:ln/>
        </p:spPr>
      </p:sp>
      <p:sp>
        <p:nvSpPr>
          <p:cNvPr id="37" name="Text 35"/>
          <p:cNvSpPr/>
          <p:nvPr/>
        </p:nvSpPr>
        <p:spPr>
          <a:xfrm>
            <a:off x="5138928" y="2377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</a:rPr>
              <a:t>↑ 22%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73168" y="2724912"/>
            <a:ext cx="1737360" cy="9144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28163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7185"/>
                </a:solidFill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出口占跨境比重72%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54880" y="322783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7185"/>
                </a:solidFill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东南亚增量最大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54880" y="363931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7185"/>
                </a:solidFill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TEMU全球加速扩张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84848" y="841248"/>
            <a:ext cx="2103120" cy="3977640"/>
          </a:xfrm>
          <a:prstGeom prst="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84848" y="841248"/>
            <a:ext cx="2103120" cy="914400"/>
          </a:xfrm>
          <a:prstGeom prst="rect">
            <a:avLst>
              <a:gd name="adj" fmla="val 14000"/>
            </a:avLst>
          </a:prstGeom>
          <a:solidFill>
            <a:srgbClr val="F5F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784848" y="1481328"/>
            <a:ext cx="2103120" cy="27432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45" name="Text 43"/>
          <p:cNvSpPr/>
          <p:nvPr/>
        </p:nvSpPr>
        <p:spPr>
          <a:xfrm>
            <a:off x="6876288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7443216" y="9144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内容消费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876288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</a:rPr>
              <a:t>1.45万亿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7333488" y="2377440"/>
            <a:ext cx="1005840" cy="256032"/>
          </a:xfrm>
          <a:prstGeom prst="rect">
            <a:avLst>
              <a:gd name="adj" fmla="val 21429"/>
            </a:avLst>
          </a:prstGeom>
          <a:solidFill>
            <a:srgbClr val="F5F3FF"/>
          </a:solidFill>
          <a:ln/>
        </p:spPr>
      </p:sp>
      <p:sp>
        <p:nvSpPr>
          <p:cNvPr id="49" name="Text 47"/>
          <p:cNvSpPr/>
          <p:nvPr/>
        </p:nvSpPr>
        <p:spPr>
          <a:xfrm>
            <a:off x="7333488" y="2377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↑ 28%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967728" y="2724912"/>
            <a:ext cx="1737360" cy="9144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51" name="Text 49"/>
          <p:cNvSpPr/>
          <p:nvPr/>
        </p:nvSpPr>
        <p:spPr>
          <a:xfrm>
            <a:off x="6949440" y="28163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短视频用户10.8亿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949440" y="322783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订阅制收入占比升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949440" y="363931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AIGC内容规模翻倍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👥  数字消费核心人群画像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2026年06月02日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822960"/>
          <a:ext cx="3931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370832" y="877824"/>
            <a:ext cx="4572000" cy="1234440"/>
          </a:xfrm>
          <a:prstGeom prst="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370832" y="886968"/>
            <a:ext cx="54864" cy="1216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4498848" y="9509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029200" y="9509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Z世代（18–25岁）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09560" y="969264"/>
            <a:ext cx="777240" cy="274320"/>
          </a:xfrm>
          <a:prstGeom prst="rect">
            <a:avLst>
              <a:gd name="adj" fmla="val 20000"/>
            </a:avLst>
          </a:prstGeom>
          <a:solidFill>
            <a:srgbClr val="D1FAE5"/>
          </a:solidFill>
          <a:ln/>
        </p:spPr>
      </p:sp>
      <p:sp>
        <p:nvSpPr>
          <p:cNvPr id="12" name="Text 9"/>
          <p:cNvSpPr/>
          <p:nvPr/>
        </p:nvSpPr>
        <p:spPr>
          <a:xfrm>
            <a:off x="7909560" y="9692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27%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0" y="13167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🔑 短视频种草 → 直播下单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0" y="15910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决策链极短，冲动购买占比高。偏好潮品、电竞、二次元，AI推荐接受度最高。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70832" y="2212848"/>
            <a:ext cx="4572000" cy="1234440"/>
          </a:xfrm>
          <a:prstGeom prst="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70832" y="2221992"/>
            <a:ext cx="54864" cy="1216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4498848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029200" y="22860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消费主力（26–35岁）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909560" y="2304288"/>
            <a:ext cx="777240" cy="27432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20" name="Text 17"/>
          <p:cNvSpPr/>
          <p:nvPr/>
        </p:nvSpPr>
        <p:spPr>
          <a:xfrm>
            <a:off x="7909560" y="23042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33%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29200" y="2651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🔑 品质升级 + 效率优先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0" y="29260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即时零售高频用户，重视性价比与品牌。家庭决策参与深，是最大支付群体。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370832" y="3547872"/>
            <a:ext cx="4572000" cy="1234440"/>
          </a:xfrm>
          <a:prstGeom prst="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FFF1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370832" y="3557016"/>
            <a:ext cx="54864" cy="121615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5" name="Text 22"/>
          <p:cNvSpPr/>
          <p:nvPr/>
        </p:nvSpPr>
        <p:spPr>
          <a:xfrm>
            <a:off x="4498848" y="36210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🌸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029200" y="36210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</a:rPr>
              <a:t>银发新军（60+岁）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909560" y="3639312"/>
            <a:ext cx="777240" cy="274320"/>
          </a:xfrm>
          <a:prstGeom prst="rect">
            <a:avLst>
              <a:gd name="adj" fmla="val 20000"/>
            </a:avLst>
          </a:prstGeom>
          <a:solidFill>
            <a:srgbClr val="FFF1F2"/>
          </a:solidFill>
          <a:ln/>
        </p:spPr>
      </p:sp>
      <p:sp>
        <p:nvSpPr>
          <p:cNvPr id="28" name="Text 25"/>
          <p:cNvSpPr/>
          <p:nvPr/>
        </p:nvSpPr>
        <p:spPr>
          <a:xfrm>
            <a:off x="7909560" y="3639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</a:rPr>
              <a:t>+52%↑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29200" y="39867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🔑 增速最快的细分市场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029200" y="42611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月均消费额同比增长52%。医疗保健、食品农特产为主力品类，需简化交互。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🔬  今日数字消费研究热点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2026年06月02日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8741664" cy="969264"/>
          </a:xfrm>
          <a:prstGeom prst="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22960"/>
            <a:ext cx="640080" cy="969264"/>
          </a:xfrm>
          <a:prstGeom prst="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1280160"/>
            <a:ext cx="640080" cy="51206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09728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7552" y="89611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🤖  AI推荐算法与消费决策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124358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【今日动态】超1亿人首次通过AI助手完成购物，「一句话下单」改写消费…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69480" y="1024128"/>
            <a:ext cx="1554480" cy="566928"/>
          </a:xfrm>
          <a:prstGeom prst="rect">
            <a:avLst>
              <a:gd name="adj" fmla="val 9677"/>
            </a:avLst>
          </a:prstGeom>
          <a:solidFill>
            <a:srgbClr val="D1FAE5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1024128"/>
            <a:ext cx="15544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🎓 偏好预测·LLM·因果推断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" y="1883664"/>
            <a:ext cx="8741664" cy="969264"/>
          </a:xfrm>
          <a:prstGeom prst="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1883664"/>
            <a:ext cx="640080" cy="969264"/>
          </a:xfrm>
          <a:prstGeom prst="rect">
            <a:avLst>
              <a:gd name="adj" fmla="val 14286"/>
            </a:avLst>
          </a:prstGeom>
          <a:solidFill>
            <a:srgbClr val="FEF3C7"/>
          </a:solidFill>
          <a:ln/>
        </p:spPr>
      </p:sp>
      <p:sp>
        <p:nvSpPr>
          <p:cNvPr id="16" name="Shape 14"/>
          <p:cNvSpPr/>
          <p:nvPr/>
        </p:nvSpPr>
        <p:spPr>
          <a:xfrm>
            <a:off x="201168" y="2340864"/>
            <a:ext cx="640080" cy="512064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" y="215798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7552" y="19568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🗺️  数字消费的空间计量分析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230428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【今日动态】即时零售规模突破1.5万亿元，增速50%碾压传统电商的3…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69480" y="2084832"/>
            <a:ext cx="1554480" cy="566928"/>
          </a:xfrm>
          <a:prstGeom prst="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2084832"/>
            <a:ext cx="15544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🎓 空间面板·溢出效应·集聚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1168" y="2944368"/>
            <a:ext cx="8741664" cy="969264"/>
          </a:xfrm>
          <a:prstGeom prst="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FFF1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2944368"/>
            <a:ext cx="640080" cy="969264"/>
          </a:xfrm>
          <a:prstGeom prst="rect">
            <a:avLst>
              <a:gd name="adj" fmla="val 14286"/>
            </a:avLst>
          </a:prstGeom>
          <a:solidFill>
            <a:srgbClr val="FFF1F2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" y="3401568"/>
            <a:ext cx="640080" cy="512064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25" name="Text 23"/>
          <p:cNvSpPr/>
          <p:nvPr/>
        </p:nvSpPr>
        <p:spPr>
          <a:xfrm>
            <a:off x="201168" y="321868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7185"/>
                </a:solidFill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7552" y="30175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🧠  短视频消费的行为经济学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336499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【今日动态】上海发布《2026年扩消费行动方案》，建设「AI+消费」…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69480" y="3145536"/>
            <a:ext cx="1554480" cy="566928"/>
          </a:xfrm>
          <a:prstGeom prst="rect">
            <a:avLst>
              <a:gd name="adj" fmla="val 9677"/>
            </a:avLst>
          </a:prstGeom>
          <a:solidFill>
            <a:srgbClr val="FFF1F2"/>
          </a:solidFill>
          <a:ln/>
        </p:spPr>
      </p:sp>
      <p:sp>
        <p:nvSpPr>
          <p:cNvPr id="29" name="Text 27"/>
          <p:cNvSpPr/>
          <p:nvPr/>
        </p:nvSpPr>
        <p:spPr>
          <a:xfrm>
            <a:off x="7269480" y="3145536"/>
            <a:ext cx="15544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7185"/>
                </a:solidFill>
              </a:rPr>
              <a:t>🎓 实验经济·SEM·有界理性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" y="4005072"/>
            <a:ext cx="8741664" cy="969264"/>
          </a:xfrm>
          <a:prstGeom prst="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4005072"/>
            <a:ext cx="640080" cy="969264"/>
          </a:xfrm>
          <a:prstGeom prst="rect">
            <a:avLst>
              <a:gd name="adj" fmla="val 14286"/>
            </a:avLst>
          </a:prstGeom>
          <a:solidFill>
            <a:srgbClr val="F5F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01168" y="4462272"/>
            <a:ext cx="640080" cy="512064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3" name="Text 31"/>
          <p:cNvSpPr/>
          <p:nvPr/>
        </p:nvSpPr>
        <p:spPr>
          <a:xfrm>
            <a:off x="201168" y="427939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04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87552" y="407822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📊  数字消费的不平等效应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87552" y="4425696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【今日动态】工信部启动「数字消费·一优一新」双推行动，培育优质数字消…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69480" y="4206240"/>
            <a:ext cx="1554480" cy="566928"/>
          </a:xfrm>
          <a:prstGeom prst="rect">
            <a:avLst>
              <a:gd name="adj" fmla="val 9677"/>
            </a:avLst>
          </a:prstGeom>
          <a:solidFill>
            <a:srgbClr val="F5F3FF"/>
          </a:solidFill>
          <a:ln/>
        </p:spPr>
      </p:sp>
      <p:sp>
        <p:nvSpPr>
          <p:cNvPr id="37" name="Text 35"/>
          <p:cNvSpPr/>
          <p:nvPr/>
        </p:nvSpPr>
        <p:spPr>
          <a:xfrm>
            <a:off x="7269480" y="4206240"/>
            <a:ext cx="15544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🎓 分位数回归·异质性·面板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🔧  应用统计学工具箱 × 数字消费研究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2026年06月02日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2743200" cy="18288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04672"/>
            <a:ext cx="2743200" cy="411480"/>
          </a:xfrm>
          <a:prstGeom prst="rect">
            <a:avLst>
              <a:gd name="adj" fmla="val 26667"/>
            </a:avLst>
          </a:prstGeom>
          <a:solidFill>
            <a:srgbClr val="D1FAE5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1033272"/>
            <a:ext cx="2743200" cy="1828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8778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📐  面板数据模型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" y="12984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追踪不同地区消费规律，固定/随机效应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0896" y="2249424"/>
            <a:ext cx="2523744" cy="256032"/>
          </a:xfrm>
          <a:prstGeom prst="rect">
            <a:avLst>
              <a:gd name="adj" fmla="val 17857"/>
            </a:avLst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" y="224942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🛠  R: plm | Python: linearmodels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804672"/>
            <a:ext cx="2743200" cy="18288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804672"/>
            <a:ext cx="2743200" cy="411480"/>
          </a:xfrm>
          <a:prstGeom prst="rect">
            <a:avLst>
              <a:gd name="adj" fmla="val 26667"/>
            </a:avLst>
          </a:prstGeom>
          <a:solidFill>
            <a:srgbClr val="FEF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3172968" y="1033272"/>
            <a:ext cx="2743200" cy="1828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8778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🧩  结构方程模型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2984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测量直播互动→信任→购买意愿路径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82696" y="2249424"/>
            <a:ext cx="2523744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3282696" y="224942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🛠  R: lavaan | AMOS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44768" y="804672"/>
            <a:ext cx="2743200" cy="18288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1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804672"/>
            <a:ext cx="2743200" cy="411480"/>
          </a:xfrm>
          <a:prstGeom prst="rect">
            <a:avLst>
              <a:gd name="adj" fmla="val 26667"/>
            </a:avLst>
          </a:prstGeom>
          <a:solidFill>
            <a:srgbClr val="FFF1F2"/>
          </a:solidFill>
          <a:ln/>
        </p:spPr>
      </p:sp>
      <p:sp>
        <p:nvSpPr>
          <p:cNvPr id="22" name="Shape 20"/>
          <p:cNvSpPr/>
          <p:nvPr/>
        </p:nvSpPr>
        <p:spPr>
          <a:xfrm>
            <a:off x="6144768" y="1033272"/>
            <a:ext cx="2743200" cy="18288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23" name="Text 21"/>
          <p:cNvSpPr/>
          <p:nvPr/>
        </p:nvSpPr>
        <p:spPr>
          <a:xfrm>
            <a:off x="6281928" y="8778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</a:rPr>
              <a:t>🤖  机器学习方法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81928" y="12984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用户消费分群与购买预测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54496" y="2249424"/>
            <a:ext cx="2523744" cy="256032"/>
          </a:xfrm>
          <a:prstGeom prst="rect">
            <a:avLst>
              <a:gd name="adj" fmla="val 17857"/>
            </a:avLst>
          </a:prstGeom>
          <a:solidFill>
            <a:srgbClr val="FFF1F2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6" y="224942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7185"/>
                </a:solidFill>
              </a:rPr>
              <a:t>🛠  Python: sklearn / LightGBM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1168" y="2816352"/>
            <a:ext cx="2743200" cy="18288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2816352"/>
            <a:ext cx="2743200" cy="411480"/>
          </a:xfrm>
          <a:prstGeom prst="rect">
            <a:avLst>
              <a:gd name="adj" fmla="val 26667"/>
            </a:avLst>
          </a:prstGeom>
          <a:solidFill>
            <a:srgbClr val="F5F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201168" y="3044952"/>
            <a:ext cx="2743200" cy="18288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" y="28895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🗺️  空间计量分析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8328" y="33101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省际数字消费溢出效应与空间集聚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0896" y="4261104"/>
            <a:ext cx="2523744" cy="256032"/>
          </a:xfrm>
          <a:prstGeom prst="rect">
            <a:avLst>
              <a:gd name="adj" fmla="val 17857"/>
            </a:avLst>
          </a:prstGeom>
          <a:solidFill>
            <a:srgbClr val="F5F3FF"/>
          </a:solidFill>
          <a:ln/>
        </p:spPr>
      </p:sp>
      <p:sp>
        <p:nvSpPr>
          <p:cNvPr id="33" name="Text 31"/>
          <p:cNvSpPr/>
          <p:nvPr/>
        </p:nvSpPr>
        <p:spPr>
          <a:xfrm>
            <a:off x="310896" y="42611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🛠  R: spdep / spatialreg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72968" y="2816352"/>
            <a:ext cx="2743200" cy="18288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72968" y="2816352"/>
            <a:ext cx="2743200" cy="411480"/>
          </a:xfrm>
          <a:prstGeom prst="rect">
            <a:avLst>
              <a:gd name="adj" fmla="val 26667"/>
            </a:avLst>
          </a:prstGeom>
          <a:solidFill>
            <a:srgbClr val="F0FDFA"/>
          </a:solidFill>
          <a:ln/>
        </p:spPr>
      </p:sp>
      <p:sp>
        <p:nvSpPr>
          <p:cNvPr id="36" name="Shape 34"/>
          <p:cNvSpPr/>
          <p:nvPr/>
        </p:nvSpPr>
        <p:spPr>
          <a:xfrm>
            <a:off x="3172968" y="3044952"/>
            <a:ext cx="2743200" cy="1828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7" name="Text 35"/>
          <p:cNvSpPr/>
          <p:nvPr/>
        </p:nvSpPr>
        <p:spPr>
          <a:xfrm>
            <a:off x="3310128" y="28895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📊  分位数回归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10128" y="33101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捕捉不同消费层次的异质性响应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82696" y="4261104"/>
            <a:ext cx="2523744" cy="256032"/>
          </a:xfrm>
          <a:prstGeom prst="rect">
            <a:avLst>
              <a:gd name="adj" fmla="val 17857"/>
            </a:avLst>
          </a:prstGeom>
          <a:solidFill>
            <a:srgbClr val="F0FDFA"/>
          </a:solidFill>
          <a:ln/>
        </p:spPr>
      </p:sp>
      <p:sp>
        <p:nvSpPr>
          <p:cNvPr id="40" name="Text 38"/>
          <p:cNvSpPr/>
          <p:nvPr/>
        </p:nvSpPr>
        <p:spPr>
          <a:xfrm>
            <a:off x="3282696" y="42611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🛠  R: quantreg | statsmodels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44768" y="2816352"/>
            <a:ext cx="2743200" cy="18288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44768" y="2816352"/>
            <a:ext cx="2743200" cy="411480"/>
          </a:xfrm>
          <a:prstGeom prst="rect">
            <a:avLst>
              <a:gd name="adj" fmla="val 26667"/>
            </a:avLst>
          </a:prstGeom>
          <a:solidFill>
            <a:srgbClr val="EDE9FE"/>
          </a:solidFill>
          <a:ln/>
        </p:spPr>
      </p:sp>
      <p:sp>
        <p:nvSpPr>
          <p:cNvPr id="43" name="Shape 41"/>
          <p:cNvSpPr/>
          <p:nvPr/>
        </p:nvSpPr>
        <p:spPr>
          <a:xfrm>
            <a:off x="6144768" y="3044952"/>
            <a:ext cx="2743200" cy="1828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4" name="Text 42"/>
          <p:cNvSpPr/>
          <p:nvPr/>
        </p:nvSpPr>
        <p:spPr>
          <a:xfrm>
            <a:off x="6281928" y="28895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🔄  双重差分/RDD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81928" y="33101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评估平台政策对消费的因果效应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54496" y="4261104"/>
            <a:ext cx="2523744" cy="256032"/>
          </a:xfrm>
          <a:prstGeom prst="rect">
            <a:avLst>
              <a:gd name="adj" fmla="val 17857"/>
            </a:avLst>
          </a:prstGeom>
          <a:solidFill>
            <a:srgbClr val="EDE9FE"/>
          </a:solidFill>
          <a:ln/>
        </p:spPr>
      </p:sp>
      <p:sp>
        <p:nvSpPr>
          <p:cNvPr id="47" name="Text 45"/>
          <p:cNvSpPr/>
          <p:nvPr/>
        </p:nvSpPr>
        <p:spPr>
          <a:xfrm>
            <a:off x="6254496" y="42611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🛠  R: rdrobust / did | Stata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🔮  2025–2026 数字消费趋势预测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2026年06月02日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804672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42432" y="896112"/>
            <a:ext cx="3200400" cy="896112"/>
          </a:xfrm>
          <a:prstGeom prst="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42432" y="905256"/>
            <a:ext cx="54864" cy="8778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5907024" y="9692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🤖  AI Agent自主购物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07024" y="13167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AI自主完成比价→下单→售后，2026年渗透预计15%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42432" y="1920240"/>
            <a:ext cx="3200400" cy="896112"/>
          </a:xfrm>
          <a:prstGeom prst="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42432" y="1929384"/>
            <a:ext cx="54864" cy="8778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5907024" y="1993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🥽  空间计算消费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07024" y="2340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AR试穿/家居模拟，年复购用户规模突破2亿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42432" y="2944368"/>
            <a:ext cx="3200400" cy="896112"/>
          </a:xfrm>
          <a:prstGeom prst="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FF1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42432" y="2953512"/>
            <a:ext cx="54864" cy="87782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7" name="Text 14"/>
          <p:cNvSpPr/>
          <p:nvPr/>
        </p:nvSpPr>
        <p:spPr>
          <a:xfrm>
            <a:off x="5907024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</a:rPr>
              <a:t>🌱  绿色数字消费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07024" y="33649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ESG评分纳入平台流量权重，合规溢价+8%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742432" y="3968496"/>
            <a:ext cx="3200400" cy="896112"/>
          </a:xfrm>
          <a:prstGeom prst="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42432" y="3977640"/>
            <a:ext cx="54864" cy="87782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07024" y="4041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🌏  跨境直播出海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07024" y="43891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TikTok Shop东南亚GMV年均增速预测 &gt;90%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645920"/>
            <a:ext cx="5486400" cy="548640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📚  数据来源 &amp; 研究建议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2026年06月02日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5074920" cy="3364992"/>
          </a:xfrm>
          <a:prstGeom prst="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960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📖  主要数据来源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1.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CNNIC《中国互联网络发展状况统计报告》（第53次，2024）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2.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国家统计局《数字经济核心产业统计分类（2021）》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3.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商务部《中国电子商务报告 2023》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4.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艾瑞咨询《2024中国直播电商行业研究报告》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5.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McKinsey：China Digital Consumer Trends 2024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6.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中国信通院《数字经济发展白皮书（2024）》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32120" y="841248"/>
            <a:ext cx="3337560" cy="3364992"/>
          </a:xfrm>
          <a:prstGeom prst="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15000" y="9601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💡  后续研究建议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15000" y="1371600"/>
            <a:ext cx="3017520" cy="475488"/>
          </a:xfrm>
          <a:prstGeom prst="rect">
            <a:avLst>
              <a:gd name="adj" fmla="val 11538"/>
            </a:avLst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1371600"/>
            <a:ext cx="301752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✦  构建省级面板数据库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 2015–2024年完整纵向数据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15000" y="1901952"/>
            <a:ext cx="3017520" cy="475488"/>
          </a:xfrm>
          <a:prstGeom prst="rect">
            <a:avLst>
              <a:gd name="adj" fmla="val 11538"/>
            </a:avLst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5715000" y="1901952"/>
            <a:ext cx="301752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✦  引入自然实验设计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 政策事件识别因果效应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15000" y="2432304"/>
            <a:ext cx="3017520" cy="475488"/>
          </a:xfrm>
          <a:prstGeom prst="rect">
            <a:avLst>
              <a:gd name="adj" fmla="val 11538"/>
            </a:avLst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0" y="2432304"/>
            <a:ext cx="301752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✦  结合实验调研数据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 测量数字消费福利变化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15000" y="2962656"/>
            <a:ext cx="3017520" cy="475488"/>
          </a:xfrm>
          <a:prstGeom prst="rect">
            <a:avLst>
              <a:gd name="adj" fmla="val 11538"/>
            </a:avLst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2962656"/>
            <a:ext cx="301752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✦  关注银发与农村市场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 捕捉群体异质性差异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15000" y="3493008"/>
            <a:ext cx="3017520" cy="475488"/>
          </a:xfrm>
          <a:prstGeom prst="rect">
            <a:avLst>
              <a:gd name="adj" fmla="val 11538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0" y="3493008"/>
            <a:ext cx="301752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✦  追踪AIGC消费影响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 数字消费决策行为新维度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70832"/>
            <a:ext cx="8595360" cy="475488"/>
          </a:xfrm>
          <a:prstGeom prst="rect">
            <a:avLst>
              <a:gd name="adj" fmla="val 19231"/>
            </a:avLst>
          </a:prstGeom>
          <a:solidFill>
            <a:srgbClr val="D1FAE5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3708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</a:rPr>
              <a:t>数字消费研究日报  ·  2026年06月02日  ·  Andy（应用统计学研究生 · 数字消费方向）  ·  每日自动生成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应用统计学研究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数字消费市场研究日报</dc:title>
  <dc:subject>PptxGenJS Presentation</dc:subject>
  <dc:creator>Andy</dc:creator>
  <cp:lastModifiedBy>Andy</cp:lastModifiedBy>
  <cp:revision>1</cp:revision>
  <dcterms:created xsi:type="dcterms:W3CDTF">2026-06-02T12:11:38Z</dcterms:created>
  <dcterms:modified xsi:type="dcterms:W3CDTF">2026-06-02T12:11:38Z</dcterms:modified>
</cp:coreProperties>
</file>