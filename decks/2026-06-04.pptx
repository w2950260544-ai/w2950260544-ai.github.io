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数字消费规模（万亿元）</c:v>
                </c:pt>
              </c:strCache>
            </c:strRef>
          </c:tx>
          <c:spPr>
            <a:solidFill>
              <a:srgbClr val="E07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A2E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16.5</c:v>
                </c:pt>
                <c:pt idx="1">
                  <c:v>20.1</c:v>
                </c:pt>
                <c:pt idx="2">
                  <c:v>23.8</c:v>
                </c:pt>
                <c:pt idx="3">
                  <c:v>25.3</c:v>
                </c:pt>
                <c:pt idx="4">
                  <c:v>25.3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A2E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7A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F6DDD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7A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2194560"/>
            <a:ext cx="4572000" cy="4572000"/>
          </a:xfrm>
          <a:prstGeom prst="roundRect">
            <a:avLst>
              <a:gd name="adj" fmla="val 12000"/>
            </a:avLst>
          </a:prstGeom>
          <a:solidFill>
            <a:srgbClr val="FBE4DB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1280160"/>
            <a:ext cx="2926080" cy="2926080"/>
          </a:xfrm>
          <a:prstGeom prst="ellipse">
            <a:avLst/>
          </a:prstGeom>
          <a:solidFill>
            <a:srgbClr val="FCEFD6"/>
          </a:solidFill>
          <a:ln/>
        </p:spPr>
      </p:sp>
      <p:sp>
        <p:nvSpPr>
          <p:cNvPr id="4" name="Shape 2"/>
          <p:cNvSpPr/>
          <p:nvPr/>
        </p:nvSpPr>
        <p:spPr>
          <a:xfrm>
            <a:off x="-640080" y="3291840"/>
            <a:ext cx="2194560" cy="2194560"/>
          </a:xfrm>
          <a:prstGeom prst="ellipse">
            <a:avLst/>
          </a:prstGeom>
          <a:solidFill>
            <a:srgbClr val="FCE7EE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" y="228600"/>
            <a:ext cx="640080" cy="640080"/>
          </a:xfrm>
          <a:prstGeom prst="ellipse">
            <a:avLst/>
          </a:prstGeom>
          <a:solidFill>
            <a:srgbClr val="F6C667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5486400" cy="64008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4300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3A2E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数字消费市场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1901952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E07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研究日报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457200" y="2798064"/>
            <a:ext cx="7772400" cy="475488"/>
          </a:xfrm>
          <a:prstGeom prst="rect">
            <a:avLst>
              <a:gd name="adj" fmla="val 15385"/>
            </a:avLst>
          </a:prstGeom>
          <a:solidFill>
            <a:srgbClr val="FCEFD6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798064"/>
            <a:ext cx="45720" cy="475488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2798064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9A23B"/>
                </a:solidFill>
              </a:rPr>
              <a:t>今日专题：即时零售竞争白热化下的数字消费新格局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419856"/>
            <a:ext cx="1828800" cy="347472"/>
          </a:xfrm>
          <a:prstGeom prst="rect">
            <a:avLst>
              <a:gd name="adj" fmla="val 26316"/>
            </a:avLst>
          </a:prstGeom>
          <a:solidFill>
            <a:srgbClr val="E07A5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4198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2026 · 06 · 04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23160" y="3419856"/>
            <a:ext cx="6492240" cy="347472"/>
          </a:xfrm>
          <a:prstGeom prst="rect">
            <a:avLst>
              <a:gd name="adj" fmla="val 21053"/>
            </a:avLst>
          </a:prstGeom>
          <a:solidFill>
            <a:srgbClr val="FFF3EC"/>
          </a:solidFill>
          <a:ln/>
        </p:spPr>
      </p:sp>
      <p:sp>
        <p:nvSpPr>
          <p:cNvPr id="15" name="Text 13"/>
          <p:cNvSpPr/>
          <p:nvPr/>
        </p:nvSpPr>
        <p:spPr>
          <a:xfrm>
            <a:off x="2468880" y="341985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07A5F"/>
                </a:solidFill>
              </a:rPr>
              <a:t>数据来自权威公开渠道，并标注来源与日期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9136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7A72"/>
                </a:solidFill>
              </a:rPr>
              <a:t>Andy · 应用统计学研究生 · 数字消费方向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FF3EC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182880"/>
            <a:ext cx="347472" cy="347472"/>
          </a:xfrm>
          <a:prstGeom prst="rect">
            <a:avLst>
              <a:gd name="adj" fmla="val 26316"/>
            </a:avLst>
          </a:prstGeom>
          <a:solidFill>
            <a:srgbClr val="E07A5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0"/>
            <a:ext cx="6126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2E2A"/>
                </a:solidFill>
              </a:rPr>
              <a:t>📰  近期数字消费要闻（6月1-3日 · 已核实日期）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A7A72"/>
                </a:solidFill>
              </a:rPr>
              <a:t>2026年06月04日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8595360" cy="758952"/>
          </a:xfrm>
          <a:prstGeom prst="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FBE4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50392"/>
            <a:ext cx="54864" cy="7406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932688"/>
            <a:ext cx="868680" cy="256032"/>
          </a:xfrm>
          <a:prstGeom prst="rect">
            <a:avLst>
              <a:gd name="adj" fmla="val 17857"/>
            </a:avLst>
          </a:prstGeom>
          <a:solidFill>
            <a:srgbClr val="E07A5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93268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政策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44752" y="9144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E2A"/>
                </a:solidFill>
              </a:rPr>
              <a:t>央行等六部门发文，鼓励试点地区在消费领域积极稳妥推进创新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949440" y="93268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07A5F"/>
                </a:solidFill>
              </a:rPr>
              <a:t>中国政府网 / 山西监管局转载 · 2026-06-01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444752" y="12618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A72"/>
                </a:solidFill>
              </a:rPr>
              <a:t>六部门联合发文提振和扩大消费，数字消费领域为重点支持方向之一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1645920"/>
            <a:ext cx="8595360" cy="758952"/>
          </a:xfrm>
          <a:prstGeom prst="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FCEFD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655064"/>
            <a:ext cx="54864" cy="740664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1737360"/>
            <a:ext cx="868680" cy="256032"/>
          </a:xfrm>
          <a:prstGeom prst="rect">
            <a:avLst>
              <a:gd name="adj" fmla="val 17857"/>
            </a:avLst>
          </a:prstGeom>
          <a:solidFill>
            <a:srgbClr val="E9A23B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17373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政策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44752" y="171907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E2A"/>
                </a:solidFill>
              </a:rPr>
              <a:t>国务院6月重要政策落地，多项新规护航市场秩序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949440" y="173736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9A23B"/>
                </a:solidFill>
              </a:rPr>
              <a:t>中国政府网 · 2026-06-01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444752" y="20665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A72"/>
                </a:solidFill>
              </a:rPr>
              <a:t>6月经济速递显示多项新规施行，消费与数字产业活力进一步释放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450592"/>
            <a:ext cx="8595360" cy="758952"/>
          </a:xfrm>
          <a:prstGeom prst="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FCE7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459736"/>
            <a:ext cx="54864" cy="740664"/>
          </a:xfrm>
          <a:prstGeom prst="rect">
            <a:avLst/>
          </a:prstGeom>
          <a:solidFill>
            <a:srgbClr val="E76F8E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2542032"/>
            <a:ext cx="868680" cy="256032"/>
          </a:xfrm>
          <a:prstGeom prst="rect">
            <a:avLst>
              <a:gd name="adj" fmla="val 17857"/>
            </a:avLst>
          </a:prstGeom>
          <a:solidFill>
            <a:srgbClr val="E76F8E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5420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行业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444752" y="252374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E2A"/>
                </a:solidFill>
              </a:rPr>
              <a:t>阿里换阵即时零售：从各自为战到统一收拢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949440" y="25420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76F8E"/>
                </a:solidFill>
              </a:rPr>
              <a:t>百度新闻聚合（多家财经媒体） · 2026-06-01前后（3天前）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444752" y="287121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A72"/>
                </a:solidFill>
              </a:rPr>
              <a:t>阿里调整即时零售业务架构，盒马等业务整合，即时零售大战进入新阶段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3255264"/>
            <a:ext cx="8595360" cy="758952"/>
          </a:xfrm>
          <a:prstGeom prst="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EFEB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264408"/>
            <a:ext cx="54864" cy="740664"/>
          </a:xfrm>
          <a:prstGeom prst="rect">
            <a:avLst/>
          </a:prstGeom>
          <a:solidFill>
            <a:srgbClr val="9B8BD4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3346704"/>
            <a:ext cx="868680" cy="256032"/>
          </a:xfrm>
          <a:prstGeom prst="rect">
            <a:avLst>
              <a:gd name="adj" fmla="val 17857"/>
            </a:avLst>
          </a:prstGeom>
          <a:solidFill>
            <a:srgbClr val="9B8BD4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34670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行业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444752" y="332841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E2A"/>
                </a:solidFill>
              </a:rPr>
              <a:t>阿里、京东、美团竞购朴朴超市，即时零售进入决赛圈博弈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949440" y="334670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B8BD4"/>
                </a:solidFill>
              </a:rPr>
              <a:t>百度新闻聚合（多家财经媒体） · 2026-06-01前后（3天前）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444752" y="36758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A72"/>
                </a:solidFill>
              </a:rPr>
              <a:t>头部平台争夺前置仓优质标的，即时零售终局竞争加剧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4059936"/>
            <a:ext cx="8595360" cy="758952"/>
          </a:xfrm>
          <a:prstGeom prst="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FBE4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4069080"/>
            <a:ext cx="54864" cy="74066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6" name="Shape 34"/>
          <p:cNvSpPr/>
          <p:nvPr/>
        </p:nvSpPr>
        <p:spPr>
          <a:xfrm>
            <a:off x="457200" y="4151376"/>
            <a:ext cx="868680" cy="256032"/>
          </a:xfrm>
          <a:prstGeom prst="rect">
            <a:avLst>
              <a:gd name="adj" fmla="val 17857"/>
            </a:avLst>
          </a:prstGeom>
          <a:solidFill>
            <a:srgbClr val="E07A5F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15137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活动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444752" y="413308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E2A"/>
                </a:solidFill>
              </a:rPr>
              <a:t>上海数字生活节助推线上+线下消费融合，数字商圈再升级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949440" y="415137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07A5F"/>
                </a:solidFill>
              </a:rPr>
              <a:t>百度新闻聚合 · 2026-06-01前后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444752" y="4480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A72"/>
                </a:solidFill>
              </a:rPr>
              <a:t>数字商圈持续升级，线上线下融合成为提振消费的重要抓手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FF3EC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182880"/>
            <a:ext cx="347472" cy="347472"/>
          </a:xfrm>
          <a:prstGeom prst="rect">
            <a:avLst>
              <a:gd name="adj" fmla="val 26316"/>
            </a:avLst>
          </a:prstGeom>
          <a:solidFill>
            <a:srgbClr val="E07A5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0"/>
            <a:ext cx="6126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2E2A"/>
                </a:solidFill>
              </a:rPr>
              <a:t>📊  核心市场数据（权威来源 · 注明发布日期）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A7A72"/>
                </a:solidFill>
              </a:rPr>
              <a:t>2026年06月04日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" y="841248"/>
            <a:ext cx="2148840" cy="2331720"/>
          </a:xfrm>
          <a:prstGeom prst="rect">
            <a:avLst>
              <a:gd name="adj" fmla="val 5106"/>
            </a:avLst>
          </a:prstGeom>
          <a:solidFill>
            <a:srgbClr val="FFFFFF"/>
          </a:solidFill>
          <a:ln w="15240">
            <a:solidFill>
              <a:srgbClr val="FBE4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841248"/>
            <a:ext cx="2148840" cy="457200"/>
          </a:xfrm>
          <a:prstGeom prst="rect">
            <a:avLst>
              <a:gd name="adj" fmla="val 24000"/>
            </a:avLst>
          </a:prstGeom>
          <a:solidFill>
            <a:srgbClr val="FBE4DB"/>
          </a:solidFill>
          <a:ln/>
        </p:spPr>
      </p:sp>
      <p:sp>
        <p:nvSpPr>
          <p:cNvPr id="8" name="Shape 6"/>
          <p:cNvSpPr/>
          <p:nvPr/>
        </p:nvSpPr>
        <p:spPr>
          <a:xfrm>
            <a:off x="201168" y="1097280"/>
            <a:ext cx="2148840" cy="201168"/>
          </a:xfrm>
          <a:prstGeom prst="rect">
            <a:avLst/>
          </a:prstGeom>
          <a:solidFill>
            <a:srgbClr val="FBE4DB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" y="135331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07A5F"/>
                </a:solidFill>
              </a:rPr>
              <a:t>25.3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92608" y="20116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7A72"/>
                </a:solidFill>
              </a:rPr>
              <a:t>万亿元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8328" y="2304288"/>
            <a:ext cx="1874520" cy="9144"/>
          </a:xfrm>
          <a:prstGeom prst="rect">
            <a:avLst/>
          </a:prstGeom>
          <a:solidFill>
            <a:srgbClr val="FBE4DB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23591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E2A"/>
                </a:solidFill>
              </a:rPr>
              <a:t>2025数字消费规模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" y="2697480"/>
            <a:ext cx="1783080" cy="274320"/>
          </a:xfrm>
          <a:prstGeom prst="rect">
            <a:avLst>
              <a:gd name="adj" fmla="val 20000"/>
            </a:avLst>
          </a:prstGeom>
          <a:solidFill>
            <a:srgbClr val="FBE4DB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" y="26974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7A5F"/>
                </a:solidFill>
              </a:rPr>
              <a:t>中国政府网·2026.3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87168" y="841248"/>
            <a:ext cx="2148840" cy="2331720"/>
          </a:xfrm>
          <a:prstGeom prst="rect">
            <a:avLst>
              <a:gd name="adj" fmla="val 5106"/>
            </a:avLst>
          </a:prstGeom>
          <a:solidFill>
            <a:srgbClr val="FFFFFF"/>
          </a:solidFill>
          <a:ln w="15240">
            <a:solidFill>
              <a:srgbClr val="FCEFD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87168" y="841248"/>
            <a:ext cx="2148840" cy="457200"/>
          </a:xfrm>
          <a:prstGeom prst="rect">
            <a:avLst>
              <a:gd name="adj" fmla="val 24000"/>
            </a:avLst>
          </a:prstGeom>
          <a:solidFill>
            <a:srgbClr val="FCEFD6"/>
          </a:solidFill>
          <a:ln/>
        </p:spPr>
      </p:sp>
      <p:sp>
        <p:nvSpPr>
          <p:cNvPr id="17" name="Shape 15"/>
          <p:cNvSpPr/>
          <p:nvPr/>
        </p:nvSpPr>
        <p:spPr>
          <a:xfrm>
            <a:off x="2487168" y="1097280"/>
            <a:ext cx="2148840" cy="201168"/>
          </a:xfrm>
          <a:prstGeom prst="rect">
            <a:avLst/>
          </a:prstGeom>
          <a:solidFill>
            <a:srgbClr val="FCEFD6"/>
          </a:solidFill>
          <a:ln/>
        </p:spPr>
      </p:sp>
      <p:sp>
        <p:nvSpPr>
          <p:cNvPr id="18" name="Text 16"/>
          <p:cNvSpPr/>
          <p:nvPr/>
        </p:nvSpPr>
        <p:spPr>
          <a:xfrm>
            <a:off x="2578608" y="135331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9A23B"/>
                </a:solidFill>
              </a:rPr>
              <a:t>1.5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2578608" y="20116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7A72"/>
                </a:solidFill>
              </a:rPr>
              <a:t>万亿元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624328" y="2304288"/>
            <a:ext cx="1874520" cy="9144"/>
          </a:xfrm>
          <a:prstGeom prst="rect">
            <a:avLst/>
          </a:prstGeom>
          <a:solidFill>
            <a:srgbClr val="FCEFD6"/>
          </a:solidFill>
          <a:ln/>
        </p:spPr>
      </p:sp>
      <p:sp>
        <p:nvSpPr>
          <p:cNvPr id="21" name="Text 19"/>
          <p:cNvSpPr/>
          <p:nvPr/>
        </p:nvSpPr>
        <p:spPr>
          <a:xfrm>
            <a:off x="2578608" y="23591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E2A"/>
                </a:solidFill>
              </a:rPr>
              <a:t>即时零售市场规模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670048" y="2697480"/>
            <a:ext cx="1783080" cy="274320"/>
          </a:xfrm>
          <a:prstGeom prst="rect">
            <a:avLst>
              <a:gd name="adj" fmla="val 20000"/>
            </a:avLst>
          </a:prstGeom>
          <a:solidFill>
            <a:srgbClr val="FCEFD6"/>
          </a:solidFill>
          <a:ln/>
        </p:spPr>
      </p:sp>
      <p:sp>
        <p:nvSpPr>
          <p:cNvPr id="23" name="Text 21"/>
          <p:cNvSpPr/>
          <p:nvPr/>
        </p:nvSpPr>
        <p:spPr>
          <a:xfrm>
            <a:off x="2670048" y="26974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9A23B"/>
                </a:solidFill>
              </a:rPr>
              <a:t>多方·2026.4-5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73168" y="841248"/>
            <a:ext cx="2148840" cy="2331720"/>
          </a:xfrm>
          <a:prstGeom prst="rect">
            <a:avLst>
              <a:gd name="adj" fmla="val 5106"/>
            </a:avLst>
          </a:prstGeom>
          <a:solidFill>
            <a:srgbClr val="FFFFFF"/>
          </a:solidFill>
          <a:ln w="15240">
            <a:solidFill>
              <a:srgbClr val="FCE7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73168" y="841248"/>
            <a:ext cx="2148840" cy="457200"/>
          </a:xfrm>
          <a:prstGeom prst="rect">
            <a:avLst>
              <a:gd name="adj" fmla="val 24000"/>
            </a:avLst>
          </a:prstGeom>
          <a:solidFill>
            <a:srgbClr val="FCE7EE"/>
          </a:solidFill>
          <a:ln/>
        </p:spPr>
      </p:sp>
      <p:sp>
        <p:nvSpPr>
          <p:cNvPr id="26" name="Shape 24"/>
          <p:cNvSpPr/>
          <p:nvPr/>
        </p:nvSpPr>
        <p:spPr>
          <a:xfrm>
            <a:off x="4773168" y="1097280"/>
            <a:ext cx="2148840" cy="201168"/>
          </a:xfrm>
          <a:prstGeom prst="rect">
            <a:avLst/>
          </a:prstGeom>
          <a:solidFill>
            <a:srgbClr val="FCE7EE"/>
          </a:solidFill>
          <a:ln/>
        </p:spPr>
      </p:sp>
      <p:sp>
        <p:nvSpPr>
          <p:cNvPr id="27" name="Text 25"/>
          <p:cNvSpPr/>
          <p:nvPr/>
        </p:nvSpPr>
        <p:spPr>
          <a:xfrm>
            <a:off x="4864608" y="135331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76F8E"/>
                </a:solidFill>
              </a:rPr>
              <a:t>9.58亿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4864608" y="20116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7A72"/>
                </a:solidFill>
              </a:rPr>
              <a:t>人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910328" y="2304288"/>
            <a:ext cx="1874520" cy="9144"/>
          </a:xfrm>
          <a:prstGeom prst="rect">
            <a:avLst/>
          </a:prstGeom>
          <a:solidFill>
            <a:srgbClr val="FCE7EE"/>
          </a:solidFill>
          <a:ln/>
        </p:spPr>
      </p:sp>
      <p:sp>
        <p:nvSpPr>
          <p:cNvPr id="30" name="Text 28"/>
          <p:cNvSpPr/>
          <p:nvPr/>
        </p:nvSpPr>
        <p:spPr>
          <a:xfrm>
            <a:off x="4864608" y="23591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E2A"/>
                </a:solidFill>
              </a:rPr>
              <a:t>数字消费用户规模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56048" y="2697480"/>
            <a:ext cx="1783080" cy="274320"/>
          </a:xfrm>
          <a:prstGeom prst="rect">
            <a:avLst>
              <a:gd name="adj" fmla="val 20000"/>
            </a:avLst>
          </a:prstGeom>
          <a:solidFill>
            <a:srgbClr val="FCE7EE"/>
          </a:solidFill>
          <a:ln/>
        </p:spPr>
      </p:sp>
      <p:sp>
        <p:nvSpPr>
          <p:cNvPr id="32" name="Text 30"/>
          <p:cNvSpPr/>
          <p:nvPr/>
        </p:nvSpPr>
        <p:spPr>
          <a:xfrm>
            <a:off x="4956048" y="26974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76F8E"/>
                </a:solidFill>
              </a:rPr>
              <a:t>CNNIC·2025.12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059168" y="841248"/>
            <a:ext cx="2148840" cy="2331720"/>
          </a:xfrm>
          <a:prstGeom prst="rect">
            <a:avLst>
              <a:gd name="adj" fmla="val 5106"/>
            </a:avLst>
          </a:prstGeom>
          <a:solidFill>
            <a:srgbClr val="FFFFFF"/>
          </a:solidFill>
          <a:ln w="15240">
            <a:solidFill>
              <a:srgbClr val="EFEB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059168" y="841248"/>
            <a:ext cx="2148840" cy="457200"/>
          </a:xfrm>
          <a:prstGeom prst="rect">
            <a:avLst>
              <a:gd name="adj" fmla="val 24000"/>
            </a:avLst>
          </a:prstGeom>
          <a:solidFill>
            <a:srgbClr val="EFEBFA"/>
          </a:solidFill>
          <a:ln/>
        </p:spPr>
      </p:sp>
      <p:sp>
        <p:nvSpPr>
          <p:cNvPr id="35" name="Shape 33"/>
          <p:cNvSpPr/>
          <p:nvPr/>
        </p:nvSpPr>
        <p:spPr>
          <a:xfrm>
            <a:off x="7059168" y="1097280"/>
            <a:ext cx="2148840" cy="201168"/>
          </a:xfrm>
          <a:prstGeom prst="rect">
            <a:avLst/>
          </a:prstGeom>
          <a:solidFill>
            <a:srgbClr val="EFEBFA"/>
          </a:solidFill>
          <a:ln/>
        </p:spPr>
      </p:sp>
      <p:sp>
        <p:nvSpPr>
          <p:cNvPr id="36" name="Text 34"/>
          <p:cNvSpPr/>
          <p:nvPr/>
        </p:nvSpPr>
        <p:spPr>
          <a:xfrm>
            <a:off x="7150608" y="135331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B8BD4"/>
                </a:solidFill>
              </a:rPr>
              <a:t>46.5%</a:t>
            </a:r>
            <a:endParaRPr lang="en-US" sz="3400" dirty="0"/>
          </a:p>
        </p:txBody>
      </p:sp>
      <p:sp>
        <p:nvSpPr>
          <p:cNvPr id="37" name="Text 35"/>
          <p:cNvSpPr/>
          <p:nvPr/>
        </p:nvSpPr>
        <p:spPr>
          <a:xfrm>
            <a:off x="7150608" y="201168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7A72"/>
                </a:solidFill>
              </a:rPr>
              <a:t>消费占比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196328" y="2304288"/>
            <a:ext cx="1874520" cy="9144"/>
          </a:xfrm>
          <a:prstGeom prst="rect">
            <a:avLst/>
          </a:prstGeom>
          <a:solidFill>
            <a:srgbClr val="EFEBFA"/>
          </a:solidFill>
          <a:ln/>
        </p:spPr>
      </p:sp>
      <p:sp>
        <p:nvSpPr>
          <p:cNvPr id="39" name="Text 37"/>
          <p:cNvSpPr/>
          <p:nvPr/>
        </p:nvSpPr>
        <p:spPr>
          <a:xfrm>
            <a:off x="7150608" y="23591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E2A"/>
                </a:solidFill>
              </a:rPr>
              <a:t>占居民消费支出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242048" y="2697480"/>
            <a:ext cx="1783080" cy="274320"/>
          </a:xfrm>
          <a:prstGeom prst="rect">
            <a:avLst>
              <a:gd name="adj" fmla="val 20000"/>
            </a:avLst>
          </a:prstGeom>
          <a:solidFill>
            <a:srgbClr val="EFEBFA"/>
          </a:solidFill>
          <a:ln/>
        </p:spPr>
      </p:sp>
      <p:sp>
        <p:nvSpPr>
          <p:cNvPr id="41" name="Text 39"/>
          <p:cNvSpPr/>
          <p:nvPr/>
        </p:nvSpPr>
        <p:spPr>
          <a:xfrm>
            <a:off x="7242048" y="26974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B8BD4"/>
                </a:solidFill>
              </a:rPr>
              <a:t>CNNIC·2025.12</a:t>
            </a:r>
            <a:endParaRPr lang="en-US" sz="900" dirty="0"/>
          </a:p>
        </p:txBody>
      </p:sp>
      <p:graphicFrame>
        <p:nvGraphicFramePr>
          <p:cNvPr id="42" name="Chart 0" descr=""/>
          <p:cNvGraphicFramePr/>
          <p:nvPr/>
        </p:nvGraphicFramePr>
        <p:xfrm>
          <a:off x="274320" y="3337560"/>
          <a:ext cx="512064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3" name="Shape 40"/>
          <p:cNvSpPr/>
          <p:nvPr/>
        </p:nvSpPr>
        <p:spPr>
          <a:xfrm>
            <a:off x="5577840" y="3337560"/>
            <a:ext cx="3364992" cy="1554480"/>
          </a:xfrm>
          <a:prstGeom prst="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6DDD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5760720" y="34198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5F"/>
                </a:solidFill>
              </a:rPr>
              <a:t>📌 数据说明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5760720" y="3730752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A72"/>
                </a:solidFill>
              </a:rPr>
              <a:t>左图为历年规模趋势（万亿元）。所有数据来自官方公开渠道，已注明发布时间，非今日新发布。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7A72"/>
                </a:solidFill>
              </a:rPr>
              <a:t>图中2025为全年值，往年为公开口径整理。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FF3EC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182880"/>
            <a:ext cx="347472" cy="347472"/>
          </a:xfrm>
          <a:prstGeom prst="rect">
            <a:avLst>
              <a:gd name="adj" fmla="val 26316"/>
            </a:avLst>
          </a:prstGeom>
          <a:solidFill>
            <a:srgbClr val="E07A5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0"/>
            <a:ext cx="6126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2E2A"/>
                </a:solidFill>
              </a:rPr>
              <a:t>🏛️  政策与行业背景（权威来源核实）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A7A72"/>
                </a:solidFill>
              </a:rPr>
              <a:t>2026年06月04日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" y="841248"/>
            <a:ext cx="4297680" cy="1225296"/>
          </a:xfrm>
          <a:prstGeom prst="rect">
            <a:avLst>
              <a:gd name="adj" fmla="val 7463"/>
            </a:avLst>
          </a:prstGeom>
          <a:solidFill>
            <a:srgbClr val="FFFFFF"/>
          </a:solidFill>
          <a:ln w="12700">
            <a:solidFill>
              <a:srgbClr val="FBE4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850392"/>
            <a:ext cx="45720" cy="1207008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9326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2E2A"/>
                </a:solidFill>
              </a:rPr>
              <a:t>2025年全年居民数字消费规模达25.3万亿元，同比增长8.7%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140817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A72"/>
                </a:solidFill>
              </a:rPr>
              <a:t>数字服务消费增长12.5%成主引擎，线下数字消费增长13.8%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792224"/>
            <a:ext cx="4023360" cy="201168"/>
          </a:xfrm>
          <a:prstGeom prst="rect">
            <a:avLst>
              <a:gd name="adj" fmla="val 18182"/>
            </a:avLst>
          </a:prstGeom>
          <a:solidFill>
            <a:srgbClr val="FBE4DB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" y="179222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07A5F"/>
                </a:solidFill>
              </a:rPr>
              <a:t>中国政府网 · 2026-03-29 发布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36008" y="841248"/>
            <a:ext cx="4297680" cy="1225296"/>
          </a:xfrm>
          <a:prstGeom prst="rect">
            <a:avLst>
              <a:gd name="adj" fmla="val 7463"/>
            </a:avLst>
          </a:prstGeom>
          <a:solidFill>
            <a:srgbClr val="FFFFFF"/>
          </a:solidFill>
          <a:ln w="12700">
            <a:solidFill>
              <a:srgbClr val="FCEFD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36008" y="850392"/>
            <a:ext cx="45720" cy="1207008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9326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2E2A"/>
                </a:solidFill>
              </a:rPr>
              <a:t>数字消费占居民消费支出46.5%，用户规模突破9.58亿人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00600" y="140817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A72"/>
                </a:solidFill>
              </a:rPr>
              <a:t>数字消费用户占网民总数85.3%，正成为消费主流形态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00600" y="1792224"/>
            <a:ext cx="4023360" cy="201168"/>
          </a:xfrm>
          <a:prstGeom prst="rect">
            <a:avLst>
              <a:gd name="adj" fmla="val 18182"/>
            </a:avLst>
          </a:prstGeom>
          <a:solidFill>
            <a:srgbClr val="FCEFD6"/>
          </a:solidFill>
          <a:ln/>
        </p:spPr>
      </p:sp>
      <p:sp>
        <p:nvSpPr>
          <p:cNvPr id="17" name="Text 15"/>
          <p:cNvSpPr/>
          <p:nvPr/>
        </p:nvSpPr>
        <p:spPr>
          <a:xfrm>
            <a:off x="4855464" y="179222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9A23B"/>
                </a:solidFill>
              </a:rPr>
              <a:t>CNNIC 数字消费发展报告2025 · 2025-12 发布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01168" y="2194560"/>
            <a:ext cx="4297680" cy="1225296"/>
          </a:xfrm>
          <a:prstGeom prst="rect">
            <a:avLst>
              <a:gd name="adj" fmla="val 7463"/>
            </a:avLst>
          </a:prstGeom>
          <a:solidFill>
            <a:srgbClr val="FFFFFF"/>
          </a:solidFill>
          <a:ln w="12700">
            <a:solidFill>
              <a:srgbClr val="EFEB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01168" y="2203704"/>
            <a:ext cx="45720" cy="1207008"/>
          </a:xfrm>
          <a:prstGeom prst="rect">
            <a:avLst/>
          </a:prstGeom>
          <a:solidFill>
            <a:srgbClr val="9B8BD4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2860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2E2A"/>
                </a:solidFill>
              </a:rPr>
              <a:t>即时零售市场2026年规模突破1.5万亿元，增速超50%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5760" y="276148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A72"/>
                </a:solidFill>
              </a:rPr>
              <a:t>社区团购活跃用户超2.8亿，三四线及乡镇渗透率达68%，传统电商增速降至3.6%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145536"/>
            <a:ext cx="4023360" cy="201168"/>
          </a:xfrm>
          <a:prstGeom prst="rect">
            <a:avLst>
              <a:gd name="adj" fmla="val 18182"/>
            </a:avLst>
          </a:prstGeom>
          <a:solidFill>
            <a:srgbClr val="EFEBFA"/>
          </a:solidFill>
          <a:ln/>
        </p:spPr>
      </p:sp>
      <p:sp>
        <p:nvSpPr>
          <p:cNvPr id="23" name="Text 21"/>
          <p:cNvSpPr/>
          <p:nvPr/>
        </p:nvSpPr>
        <p:spPr>
          <a:xfrm>
            <a:off x="420624" y="314553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B8BD4"/>
                </a:solidFill>
              </a:rPr>
              <a:t>安迅科技 / 平说财经（多方报道） · 2026年4-5月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36008" y="2194560"/>
            <a:ext cx="4297680" cy="1225296"/>
          </a:xfrm>
          <a:prstGeom prst="rect">
            <a:avLst>
              <a:gd name="adj" fmla="val 7463"/>
            </a:avLst>
          </a:prstGeom>
          <a:solidFill>
            <a:srgbClr val="FFFFFF"/>
          </a:solidFill>
          <a:ln w="12700">
            <a:solidFill>
              <a:srgbClr val="FCE7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36008" y="2203704"/>
            <a:ext cx="45720" cy="1207008"/>
          </a:xfrm>
          <a:prstGeom prst="rect">
            <a:avLst/>
          </a:prstGeom>
          <a:solidFill>
            <a:srgbClr val="E76F8E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22860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2E2A"/>
                </a:solidFill>
              </a:rPr>
              <a:t>即时零售激烈竞争下，美团、京东、阿里业绩分化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00600" y="276148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A72"/>
                </a:solidFill>
              </a:rPr>
              <a:t>AI与即时零售成为大厂二季度流量争夺关键，补贴退潮、算法竞争升级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00600" y="3145536"/>
            <a:ext cx="4023360" cy="201168"/>
          </a:xfrm>
          <a:prstGeom prst="rect">
            <a:avLst>
              <a:gd name="adj" fmla="val 18182"/>
            </a:avLst>
          </a:prstGeom>
          <a:solidFill>
            <a:srgbClr val="FCE7EE"/>
          </a:solidFill>
          <a:ln/>
        </p:spPr>
      </p:sp>
      <p:sp>
        <p:nvSpPr>
          <p:cNvPr id="29" name="Text 27"/>
          <p:cNvSpPr/>
          <p:nvPr/>
        </p:nvSpPr>
        <p:spPr>
          <a:xfrm>
            <a:off x="4855464" y="314553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76F8E"/>
                </a:solidFill>
              </a:rPr>
              <a:t>百度新闻聚合（财经媒体） · 2026-04-13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01168" y="3547872"/>
            <a:ext cx="4297680" cy="1225296"/>
          </a:xfrm>
          <a:prstGeom prst="rect">
            <a:avLst>
              <a:gd name="adj" fmla="val 7463"/>
            </a:avLst>
          </a:prstGeom>
          <a:solidFill>
            <a:srgbClr val="FFFFFF"/>
          </a:solidFill>
          <a:ln w="12700">
            <a:solidFill>
              <a:srgbClr val="F0FD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01168" y="3557016"/>
            <a:ext cx="45720" cy="1207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363931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2E2A"/>
                </a:solidFill>
              </a:rPr>
              <a:t>商务部等8部门《大力发展数字消费指导意见》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65760" y="41148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A72"/>
                </a:solidFill>
              </a:rPr>
              <a:t>明确数字产品、服务、内容、渠道四大范畴，部署供给、渠道、主体、支撑四方面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4498848"/>
            <a:ext cx="4023360" cy="201168"/>
          </a:xfrm>
          <a:prstGeom prst="rect">
            <a:avLst>
              <a:gd name="adj" fmla="val 18182"/>
            </a:avLst>
          </a:prstGeom>
          <a:solidFill>
            <a:srgbClr val="F0FDFA"/>
          </a:solidFill>
          <a:ln/>
        </p:spPr>
      </p:sp>
      <p:sp>
        <p:nvSpPr>
          <p:cNvPr id="35" name="Text 33"/>
          <p:cNvSpPr/>
          <p:nvPr/>
        </p:nvSpPr>
        <p:spPr>
          <a:xfrm>
            <a:off x="420624" y="44988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商务部 / 中国政府网 · 2025-09-24 发布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36008" y="3547872"/>
            <a:ext cx="4297680" cy="1225296"/>
          </a:xfrm>
          <a:prstGeom prst="rect">
            <a:avLst>
              <a:gd name="adj" fmla="val 7463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36008" y="3557016"/>
            <a:ext cx="45720" cy="1207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4800600" y="363931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2E2A"/>
                </a:solidFill>
              </a:rPr>
              <a:t>2026政府工作报告将智能化消费列为七大高频词之一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800600" y="41148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A72"/>
                </a:solidFill>
              </a:rPr>
              <a:t>政策明确推动人工智能+消费深度融合，培育壮大新型消费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00600" y="4498848"/>
            <a:ext cx="4023360" cy="201168"/>
          </a:xfrm>
          <a:prstGeom prst="rect">
            <a:avLst>
              <a:gd name="adj" fmla="val 18182"/>
            </a:avLst>
          </a:prstGeom>
          <a:solidFill>
            <a:srgbClr val="EDE9FE"/>
          </a:solidFill>
          <a:ln/>
        </p:spPr>
      </p:sp>
      <p:sp>
        <p:nvSpPr>
          <p:cNvPr id="41" name="Text 39"/>
          <p:cNvSpPr/>
          <p:nvPr/>
        </p:nvSpPr>
        <p:spPr>
          <a:xfrm>
            <a:off x="4855464" y="44988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全国两会政府工作报告 · 2026-03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FF3EC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182880"/>
            <a:ext cx="347472" cy="347472"/>
          </a:xfrm>
          <a:prstGeom prst="rect">
            <a:avLst>
              <a:gd name="adj" fmla="val 26316"/>
            </a:avLst>
          </a:prstGeom>
          <a:solidFill>
            <a:srgbClr val="E07A5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0"/>
            <a:ext cx="6126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2E2A"/>
                </a:solidFill>
              </a:rPr>
              <a:t>🔬  研究视角：数字消费 × 应用统计学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A7A72"/>
                </a:solidFill>
              </a:rPr>
              <a:t>2026年06月04日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" y="868680"/>
            <a:ext cx="4297680" cy="1719072"/>
          </a:xfrm>
          <a:prstGeom prst="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FBE4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868680"/>
            <a:ext cx="4297680" cy="457200"/>
          </a:xfrm>
          <a:prstGeom prst="rect">
            <a:avLst>
              <a:gd name="adj" fmla="val 24000"/>
            </a:avLst>
          </a:prstGeom>
          <a:solidFill>
            <a:srgbClr val="FBE4DB"/>
          </a:solidFill>
          <a:ln/>
        </p:spPr>
      </p:sp>
      <p:sp>
        <p:nvSpPr>
          <p:cNvPr id="8" name="Shape 6"/>
          <p:cNvSpPr/>
          <p:nvPr/>
        </p:nvSpPr>
        <p:spPr>
          <a:xfrm>
            <a:off x="201168" y="1124712"/>
            <a:ext cx="4297680" cy="201168"/>
          </a:xfrm>
          <a:prstGeom prst="rect">
            <a:avLst/>
          </a:prstGeom>
          <a:solidFill>
            <a:srgbClr val="FBE4DB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" y="9418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5F"/>
                </a:solidFill>
              </a:rPr>
              <a:t>📐  会展促消费的政策评估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" y="139903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2E2A"/>
                </a:solidFill>
              </a:rPr>
              <a:t>上海数字生活周等促消费活动，可用双重差分(DID)评估其对区域消费的净效应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240280"/>
            <a:ext cx="4059936" cy="256032"/>
          </a:xfrm>
          <a:prstGeom prst="rect">
            <a:avLst>
              <a:gd name="adj" fmla="val 17857"/>
            </a:avLst>
          </a:prstGeom>
          <a:solidFill>
            <a:srgbClr val="FBE4DB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2240280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07A5F"/>
                </a:solidFill>
              </a:rPr>
              <a:t>🎓 适用方法：DID · 事件研究法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36008" y="868680"/>
            <a:ext cx="4297680" cy="1719072"/>
          </a:xfrm>
          <a:prstGeom prst="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FCEFD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36008" y="868680"/>
            <a:ext cx="4297680" cy="457200"/>
          </a:xfrm>
          <a:prstGeom prst="rect">
            <a:avLst>
              <a:gd name="adj" fmla="val 24000"/>
            </a:avLst>
          </a:prstGeom>
          <a:solidFill>
            <a:srgbClr val="FCEFD6"/>
          </a:solidFill>
          <a:ln/>
        </p:spPr>
      </p:sp>
      <p:sp>
        <p:nvSpPr>
          <p:cNvPr id="15" name="Shape 13"/>
          <p:cNvSpPr/>
          <p:nvPr/>
        </p:nvSpPr>
        <p:spPr>
          <a:xfrm>
            <a:off x="4636008" y="1124712"/>
            <a:ext cx="4297680" cy="201168"/>
          </a:xfrm>
          <a:prstGeom prst="rect">
            <a:avLst/>
          </a:prstGeom>
          <a:solidFill>
            <a:srgbClr val="FCEFD6"/>
          </a:solidFill>
          <a:ln/>
        </p:spPr>
      </p:sp>
      <p:sp>
        <p:nvSpPr>
          <p:cNvPr id="16" name="Text 14"/>
          <p:cNvSpPr/>
          <p:nvPr/>
        </p:nvSpPr>
        <p:spPr>
          <a:xfrm>
            <a:off x="4773168" y="9418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A23B"/>
                </a:solidFill>
              </a:rPr>
              <a:t>🗺️  数字消费的空间分异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73168" y="139903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2E2A"/>
                </a:solidFill>
              </a:rPr>
              <a:t>沪穗会展联动反映区域差异，可用空间计量模型识别消费溢出与集聚效应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2240280"/>
            <a:ext cx="4059936" cy="256032"/>
          </a:xfrm>
          <a:prstGeom prst="rect">
            <a:avLst>
              <a:gd name="adj" fmla="val 17857"/>
            </a:avLst>
          </a:prstGeom>
          <a:solidFill>
            <a:srgbClr val="FCEFD6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2240280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9A23B"/>
                </a:solidFill>
              </a:rPr>
              <a:t>🎓 适用方法：空间面板 · 溢出效应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01168" y="2743200"/>
            <a:ext cx="4297680" cy="1719072"/>
          </a:xfrm>
          <a:prstGeom prst="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FCE7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01168" y="2743200"/>
            <a:ext cx="4297680" cy="457200"/>
          </a:xfrm>
          <a:prstGeom prst="rect">
            <a:avLst>
              <a:gd name="adj" fmla="val 24000"/>
            </a:avLst>
          </a:prstGeom>
          <a:solidFill>
            <a:srgbClr val="FCE7EE"/>
          </a:solidFill>
          <a:ln/>
        </p:spPr>
      </p:sp>
      <p:sp>
        <p:nvSpPr>
          <p:cNvPr id="22" name="Shape 20"/>
          <p:cNvSpPr/>
          <p:nvPr/>
        </p:nvSpPr>
        <p:spPr>
          <a:xfrm>
            <a:off x="201168" y="2999232"/>
            <a:ext cx="4297680" cy="201168"/>
          </a:xfrm>
          <a:prstGeom prst="rect">
            <a:avLst/>
          </a:prstGeom>
          <a:solidFill>
            <a:srgbClr val="FCE7EE"/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" y="28163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6F8E"/>
                </a:solidFill>
              </a:rPr>
              <a:t>📊  即时零售的结构建模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8328" y="327355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2E2A"/>
                </a:solidFill>
              </a:rPr>
              <a:t>1.5万亿规模与50%增速下，可建模分析品类渗透与城乡异质性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4114800"/>
            <a:ext cx="4059936" cy="256032"/>
          </a:xfrm>
          <a:prstGeom prst="rect">
            <a:avLst>
              <a:gd name="adj" fmla="val 17857"/>
            </a:avLst>
          </a:prstGeom>
          <a:solidFill>
            <a:srgbClr val="FCE7EE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4114800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76F8E"/>
                </a:solidFill>
              </a:rPr>
              <a:t>🎓 适用方法：分位数回归 · 异质性分析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36008" y="2743200"/>
            <a:ext cx="4297680" cy="1719072"/>
          </a:xfrm>
          <a:prstGeom prst="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EFEBF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36008" y="2743200"/>
            <a:ext cx="4297680" cy="457200"/>
          </a:xfrm>
          <a:prstGeom prst="rect">
            <a:avLst>
              <a:gd name="adj" fmla="val 24000"/>
            </a:avLst>
          </a:prstGeom>
          <a:solidFill>
            <a:srgbClr val="EFEBFA"/>
          </a:solidFill>
          <a:ln/>
        </p:spPr>
      </p:sp>
      <p:sp>
        <p:nvSpPr>
          <p:cNvPr id="29" name="Shape 27"/>
          <p:cNvSpPr/>
          <p:nvPr/>
        </p:nvSpPr>
        <p:spPr>
          <a:xfrm>
            <a:off x="4636008" y="2999232"/>
            <a:ext cx="4297680" cy="201168"/>
          </a:xfrm>
          <a:prstGeom prst="rect">
            <a:avLst/>
          </a:prstGeom>
          <a:solidFill>
            <a:srgbClr val="EFEBFA"/>
          </a:solidFill>
          <a:ln/>
        </p:spPr>
      </p:sp>
      <p:sp>
        <p:nvSpPr>
          <p:cNvPr id="30" name="Text 28"/>
          <p:cNvSpPr/>
          <p:nvPr/>
        </p:nvSpPr>
        <p:spPr>
          <a:xfrm>
            <a:off x="4773168" y="28163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8BD4"/>
                </a:solidFill>
              </a:rPr>
              <a:t>🤖  AI+消费的因果识别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73168" y="327355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2E2A"/>
                </a:solidFill>
              </a:rPr>
              <a:t>智能化消费政策落地，可识别AI推荐对消费决策链的因果效应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54880" y="4114800"/>
            <a:ext cx="4059936" cy="256032"/>
          </a:xfrm>
          <a:prstGeom prst="rect">
            <a:avLst>
              <a:gd name="adj" fmla="val 17857"/>
            </a:avLst>
          </a:prstGeom>
          <a:solidFill>
            <a:srgbClr val="EFEBFA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4114800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B8BD4"/>
                </a:solidFill>
              </a:rPr>
              <a:t>🎓 适用方法：工具变量 · 中介效应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645920"/>
            <a:ext cx="5486400" cy="5486400"/>
          </a:xfrm>
          <a:prstGeom prst="ellipse">
            <a:avLst/>
          </a:prstGeom>
          <a:solidFill>
            <a:srgbClr val="FBE4DB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FCEFD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FF3EC"/>
          </a:solidFill>
          <a:ln/>
        </p:spPr>
      </p:sp>
      <p:sp>
        <p:nvSpPr>
          <p:cNvPr id="5" name="Shape 3"/>
          <p:cNvSpPr/>
          <p:nvPr/>
        </p:nvSpPr>
        <p:spPr>
          <a:xfrm>
            <a:off x="256032" y="182880"/>
            <a:ext cx="347472" cy="347472"/>
          </a:xfrm>
          <a:prstGeom prst="rect">
            <a:avLst>
              <a:gd name="adj" fmla="val 26316"/>
            </a:avLst>
          </a:prstGeom>
          <a:solidFill>
            <a:srgbClr val="E07A5F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0"/>
            <a:ext cx="6126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A2E2A"/>
                </a:solidFill>
              </a:rPr>
              <a:t>📚  数据来源与诚信声明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0" y="0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A7A72"/>
                </a:solidFill>
              </a:rPr>
              <a:t>2026年06月04日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841248"/>
            <a:ext cx="8595360" cy="219456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6DDD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9326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5F"/>
                </a:solidFill>
              </a:rPr>
              <a:t>📖  本期全部信息来源（已逐条核实）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325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7A5F"/>
                </a:solidFill>
              </a:rPr>
              <a:t>1. </a:t>
            </a:r>
            <a:pPr indent="0" marL="0">
              <a:buNone/>
            </a:pPr>
            <a:r>
              <a:rPr lang="en-US" sz="950" dirty="0">
                <a:solidFill>
                  <a:srgbClr val="8A7A72"/>
                </a:solidFill>
              </a:rPr>
              <a:t>中国政府网 / 山西监管局转载（2026-06-01）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663440" y="1325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7A5F"/>
                </a:solidFill>
              </a:rPr>
              <a:t>2. </a:t>
            </a:r>
            <a:pPr indent="0" marL="0">
              <a:buNone/>
            </a:pPr>
            <a:r>
              <a:rPr lang="en-US" sz="950" dirty="0">
                <a:solidFill>
                  <a:srgbClr val="8A7A72"/>
                </a:solidFill>
              </a:rPr>
              <a:t>中国政府网（2026-06-01）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17099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7A5F"/>
                </a:solidFill>
              </a:rPr>
              <a:t>3. </a:t>
            </a:r>
            <a:pPr indent="0" marL="0">
              <a:buNone/>
            </a:pPr>
            <a:r>
              <a:rPr lang="en-US" sz="950" dirty="0">
                <a:solidFill>
                  <a:srgbClr val="8A7A72"/>
                </a:solidFill>
              </a:rPr>
              <a:t>百度新闻聚合（多家财经媒体）（2026-06-01前后（3天前））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663440" y="17099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7A5F"/>
                </a:solidFill>
              </a:rPr>
              <a:t>4. </a:t>
            </a:r>
            <a:pPr indent="0" marL="0">
              <a:buNone/>
            </a:pPr>
            <a:r>
              <a:rPr lang="en-US" sz="950" dirty="0">
                <a:solidFill>
                  <a:srgbClr val="8A7A72"/>
                </a:solidFill>
              </a:rPr>
              <a:t>百度新闻聚合（多家财经媒体）（2026-06-01前后（3天前））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09397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7A5F"/>
                </a:solidFill>
              </a:rPr>
              <a:t>5. </a:t>
            </a:r>
            <a:pPr indent="0" marL="0">
              <a:buNone/>
            </a:pPr>
            <a:r>
              <a:rPr lang="en-US" sz="950" dirty="0">
                <a:solidFill>
                  <a:srgbClr val="8A7A72"/>
                </a:solidFill>
              </a:rPr>
              <a:t>百度新闻聚合（2026-06-01前后）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63440" y="209397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7A5F"/>
                </a:solidFill>
              </a:rPr>
              <a:t>6. </a:t>
            </a:r>
            <a:pPr indent="0" marL="0">
              <a:buNone/>
            </a:pPr>
            <a:r>
              <a:rPr lang="en-US" sz="950" dirty="0">
                <a:solidFill>
                  <a:srgbClr val="8A7A72"/>
                </a:solidFill>
              </a:rPr>
              <a:t>十大品牌网 / 买购APP品牌榜（2026-04-07）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24780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7A5F"/>
                </a:solidFill>
              </a:rPr>
              <a:t>7. </a:t>
            </a:r>
            <a:pPr indent="0" marL="0">
              <a:buNone/>
            </a:pPr>
            <a:r>
              <a:rPr lang="en-US" sz="950" dirty="0">
                <a:solidFill>
                  <a:srgbClr val="8A7A72"/>
                </a:solidFill>
              </a:rPr>
              <a:t>中国政府网（2026-03-29 发布）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63440" y="24780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7A5F"/>
                </a:solidFill>
              </a:rPr>
              <a:t>8. </a:t>
            </a:r>
            <a:pPr indent="0" marL="0">
              <a:buNone/>
            </a:pPr>
            <a:r>
              <a:rPr lang="en-US" sz="950" dirty="0">
                <a:solidFill>
                  <a:srgbClr val="8A7A72"/>
                </a:solidFill>
              </a:rPr>
              <a:t>CNNIC 数字消费发展报告2025（2025-12 发布）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28620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7A5F"/>
                </a:solidFill>
              </a:rPr>
              <a:t>9. </a:t>
            </a:r>
            <a:pPr indent="0" marL="0">
              <a:buNone/>
            </a:pPr>
            <a:r>
              <a:rPr lang="en-US" sz="950" dirty="0">
                <a:solidFill>
                  <a:srgbClr val="8A7A72"/>
                </a:solidFill>
              </a:rPr>
              <a:t>安迅科技 / 平说财经（多方报道）（2026年4-5月）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63440" y="28620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7A5F"/>
                </a:solidFill>
              </a:rPr>
              <a:t>10. </a:t>
            </a:r>
            <a:pPr indent="0" marL="0">
              <a:buNone/>
            </a:pPr>
            <a:r>
              <a:rPr lang="en-US" sz="950" dirty="0">
                <a:solidFill>
                  <a:srgbClr val="8A7A72"/>
                </a:solidFill>
              </a:rPr>
              <a:t>百度新闻聚合（财经媒体）（2026-04-13）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3246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7A5F"/>
                </a:solidFill>
              </a:rPr>
              <a:t>11. </a:t>
            </a:r>
            <a:pPr indent="0" marL="0">
              <a:buNone/>
            </a:pPr>
            <a:r>
              <a:rPr lang="en-US" sz="950" dirty="0">
                <a:solidFill>
                  <a:srgbClr val="8A7A72"/>
                </a:solidFill>
              </a:rPr>
              <a:t>商务部 / 中国政府网（2025-09-24 发布）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63440" y="3246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7A5F"/>
                </a:solidFill>
              </a:rPr>
              <a:t>12. </a:t>
            </a:r>
            <a:pPr indent="0" marL="0">
              <a:buNone/>
            </a:pPr>
            <a:r>
              <a:rPr lang="en-US" sz="950" dirty="0">
                <a:solidFill>
                  <a:srgbClr val="8A7A72"/>
                </a:solidFill>
              </a:rPr>
              <a:t>全国两会政府工作报告（2026-03）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200400"/>
            <a:ext cx="8595360" cy="1234440"/>
          </a:xfrm>
          <a:prstGeom prst="rect">
            <a:avLst>
              <a:gd name="adj" fmla="val 8889"/>
            </a:avLst>
          </a:prstGeom>
          <a:solidFill>
            <a:srgbClr val="FBE4DB"/>
          </a:solidFill>
          <a:ln/>
        </p:spPr>
      </p:sp>
      <p:sp>
        <p:nvSpPr>
          <p:cNvPr id="23" name="Shape 21"/>
          <p:cNvSpPr/>
          <p:nvPr/>
        </p:nvSpPr>
        <p:spPr>
          <a:xfrm>
            <a:off x="274320" y="3200400"/>
            <a:ext cx="54864" cy="123444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5F"/>
                </a:solidFill>
              </a:rPr>
              <a:t>📎  关于本报告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61188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2E2A"/>
                </a:solidFill>
              </a:rPr>
              <a:t>本报告数据与事件均来自上述权威公开渠道，并标注来源与发布日期。「要闻」为近期(6月1-3日)真实事件，「核心数据」与「政策背景」为权威机构已发布数据，均按实际时间标注，供学术研究参考。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4526280"/>
            <a:ext cx="8595360" cy="365760"/>
          </a:xfrm>
          <a:prstGeom prst="rect">
            <a:avLst>
              <a:gd name="adj" fmla="val 20000"/>
            </a:avLst>
          </a:prstGeom>
          <a:solidFill>
            <a:srgbClr val="E07A5F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452628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数字消费研究日报  ·  2026年06月04日  ·  Andy（应用统计学 · 数字消费方向）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数字消费研究日报 · 即时零售竞争白热化下的数字消费新格局</dc:title>
  <dc:subject>PptxGenJS Presentation</dc:subject>
  <dc:creator>Andy</dc:creator>
  <cp:lastModifiedBy>Andy</cp:lastModifiedBy>
  <cp:revision>1</cp:revision>
  <dcterms:created xsi:type="dcterms:W3CDTF">2026-06-04T14:36:27Z</dcterms:created>
  <dcterms:modified xsi:type="dcterms:W3CDTF">2026-06-04T14:36:27Z</dcterms:modified>
</cp:coreProperties>
</file>